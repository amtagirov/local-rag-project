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863840" y="-457200"/>
            <a:ext cx="4937760" cy="7680960"/>
          </a:xfrm>
          <a:prstGeom prst="roundRect">
            <a:avLst/>
          </a:prstGeom>
          <a:solidFill>
            <a:srgbClr val="1B385D"/>
          </a:solidFill>
          <a:ln w="12700">
            <a:solidFill>
              <a:srgbClr val="355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234440"/>
            <a:ext cx="6766560" cy="7315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LOCAL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Система ответов по локальным документам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6583680" cy="91440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Aptos"/>
              </a:rPr>
              <a:t>Модульная архитектура  •  Гибридный поиск
Reranking  •  Локальная LLM  •  Оценка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64008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Конфиденциальный RAG для PDF и DOCX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188720"/>
            <a:ext cx="2971800" cy="9601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41080" y="1399032"/>
            <a:ext cx="260604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PDF / DOCX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2697480"/>
            <a:ext cx="2971800" cy="9601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41080" y="2907791"/>
            <a:ext cx="260604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Qdrant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206240"/>
            <a:ext cx="2971800" cy="9601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41080" y="4416552"/>
            <a:ext cx="260604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Qwen 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6263640"/>
            <a:ext cx="640080" cy="2743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Задачи проекта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Практическая RAG-система и стенд для воспроизводимых экспериментов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606040" cy="20574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2057400"/>
          </a:xfrm>
          <a:prstGeom prst="roundRect">
            <a:avLst/>
          </a:prstGeom>
          <a:solidFill>
            <a:srgbClr val="FF7A90"/>
          </a:solidFill>
          <a:ln>
            <a:solidFill>
              <a:srgbClr val="FF7A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08760"/>
            <a:ext cx="214884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Проблема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2148840" cy="12344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lang="ru-RU" sz="1200" dirty="0">
                <a:solidFill>
                  <a:srgbClr val="FFFFFF"/>
                </a:solidFill>
                <a:latin typeface="Aptos"/>
              </a:rPr>
              <a:t>Значимая доля корпоративной документации </a:t>
            </a:r>
            <a:r>
              <a:rPr lang="ru-RU" sz="1200" dirty="0" err="1">
                <a:solidFill>
                  <a:srgbClr val="FFFFFF"/>
                </a:solidFill>
                <a:latin typeface="Aptos"/>
              </a:rPr>
              <a:t>неструктурирована</a:t>
            </a:r>
            <a:r>
              <a:rPr lang="ru-RU" sz="1200" dirty="0">
                <a:solidFill>
                  <a:srgbClr val="FFFFFF"/>
                </a:solidFill>
                <a:latin typeface="Aptos"/>
              </a:rPr>
              <a:t>. </a:t>
            </a:r>
          </a:p>
          <a:p>
            <a:pPr algn="l"/>
            <a:endParaRPr lang="ru-RU" sz="12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83280" y="1325880"/>
            <a:ext cx="2606040" cy="20574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83280" y="1325880"/>
            <a:ext cx="73152" cy="20574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39312" y="1508760"/>
            <a:ext cx="214884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fontScale="92500"/>
          </a:bodyPr>
          <a:lstStyle/>
          <a:p>
            <a:pPr algn="l"/>
            <a:r>
              <a:rPr sz="1700" b="1" dirty="0" err="1">
                <a:solidFill>
                  <a:srgbClr val="FFFFFF"/>
                </a:solidFill>
                <a:latin typeface="Aptos"/>
              </a:rPr>
              <a:t>Практическая</a:t>
            </a:r>
            <a:r>
              <a:rPr lang="ru-RU" sz="1700" b="1" dirty="0">
                <a:solidFill>
                  <a:srgbClr val="FFFFFF"/>
                </a:solidFill>
                <a:latin typeface="Aptos"/>
              </a:rPr>
              <a:t> задача</a:t>
            </a:r>
            <a:endParaRPr sz="17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39312" y="1984248"/>
            <a:ext cx="2148840" cy="12344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lnSpcReduction="10000"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Aptos"/>
              </a:rPr>
              <a:t>Создать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приватную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систему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которая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находит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контекст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lang="ru-RU" sz="1200" b="0" dirty="0">
                <a:solidFill>
                  <a:srgbClr val="FFFFFF"/>
                </a:solidFill>
                <a:latin typeface="Aptos"/>
              </a:rPr>
              <a:t>в локальной базе документов и дает качественный структурированный ответ на запросы</a:t>
            </a:r>
            <a:endParaRPr sz="12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26480" y="1325880"/>
            <a:ext cx="2606040" cy="20574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325880"/>
            <a:ext cx="73152" cy="2057400"/>
          </a:xfrm>
          <a:prstGeom prst="roundRect">
            <a:avLst/>
          </a:prstGeom>
          <a:solidFill>
            <a:srgbClr val="F7C65B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82512" y="1508760"/>
            <a:ext cx="214884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fontScale="77500" lnSpcReduction="20000"/>
          </a:bodyPr>
          <a:lstStyle/>
          <a:p>
            <a:pPr algn="l"/>
            <a:r>
              <a:rPr sz="1700" b="1" dirty="0" err="1">
                <a:solidFill>
                  <a:srgbClr val="FFFFFF"/>
                </a:solidFill>
                <a:latin typeface="Aptos"/>
              </a:rPr>
              <a:t>Исслед</a:t>
            </a:r>
            <a:r>
              <a:rPr lang="ru-RU" sz="1700" b="1" dirty="0" err="1">
                <a:solidFill>
                  <a:srgbClr val="FFFFFF"/>
                </a:solidFill>
                <a:latin typeface="Aptos"/>
              </a:rPr>
              <a:t>овательская</a:t>
            </a:r>
            <a:r>
              <a:rPr lang="ru-RU" sz="1700" b="1" dirty="0">
                <a:solidFill>
                  <a:srgbClr val="FFFFFF"/>
                </a:solidFill>
                <a:latin typeface="Aptos"/>
              </a:rPr>
              <a:t> задача</a:t>
            </a:r>
            <a:endParaRPr sz="17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382512" y="1984248"/>
            <a:ext cx="2148840" cy="12344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Aptos"/>
              </a:rPr>
              <a:t>Оценить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как</a:t>
            </a:r>
            <a:r>
              <a:rPr lang="ru-RU" sz="1200" b="0" dirty="0">
                <a:solidFill>
                  <a:srgbClr val="FFFFFF"/>
                </a:solidFill>
                <a:latin typeface="Aptos"/>
              </a:rPr>
              <a:t> модели,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чанкинг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retrieval, reranking и top-k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влияют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на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качество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задержку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1325880"/>
            <a:ext cx="2606040" cy="20574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869680" y="1325880"/>
            <a:ext cx="73152" cy="2057400"/>
          </a:xfrm>
          <a:prstGeom prst="roundRect">
            <a:avLst/>
          </a:prstGeom>
          <a:solidFill>
            <a:srgbClr val="38DDB1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25711" y="1508760"/>
            <a:ext cx="214884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lnSpcReduction="10000"/>
          </a:bodyPr>
          <a:lstStyle/>
          <a:p>
            <a:pPr algn="l"/>
            <a:r>
              <a:rPr lang="ru-RU" sz="1700" b="1" dirty="0">
                <a:solidFill>
                  <a:srgbClr val="FFFFFF"/>
                </a:solidFill>
                <a:latin typeface="Aptos"/>
              </a:rPr>
              <a:t>Инженерная задача</a:t>
            </a:r>
            <a:endParaRPr sz="17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25711" y="1984248"/>
            <a:ext cx="2148840" cy="12344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lnSpcReduction="10000"/>
          </a:bodyPr>
          <a:lstStyle/>
          <a:p>
            <a:pPr algn="l"/>
            <a:r>
              <a:rPr lang="ru-RU" sz="1200" b="0" dirty="0">
                <a:solidFill>
                  <a:srgbClr val="FFFFFF"/>
                </a:solidFill>
                <a:latin typeface="Aptos"/>
              </a:rPr>
              <a:t>Сделать систему модульной и адаптивной.</a:t>
            </a:r>
          </a:p>
          <a:p>
            <a:pPr algn="l"/>
            <a:r>
              <a:rPr sz="1200" b="0" dirty="0" err="1">
                <a:solidFill>
                  <a:srgbClr val="FFFFFF"/>
                </a:solidFill>
                <a:latin typeface="Aptos"/>
              </a:rPr>
              <a:t>Заменять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модели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этапы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независимо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благодаря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абстракциям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модульным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интерфейсам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10835640" cy="1874519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023360"/>
            <a:ext cx="22860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Принцип проекта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617720"/>
            <a:ext cx="996696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Aptos"/>
              </a:rPr>
              <a:t>Единый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пайплайн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Заменяемые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компоненты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Управляемые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Aptos"/>
              </a:rPr>
              <a:t>параметры</a:t>
            </a:r>
            <a:r>
              <a:rPr sz="1600" b="1" dirty="0">
                <a:solidFill>
                  <a:srgbClr val="FFFFFF"/>
                </a:solidFill>
                <a:latin typeface="Aptos"/>
              </a:rPr>
              <a:t>  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Два независимых потока: индексация и обработка 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4300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5156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PDF / DOCX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600200"/>
            <a:ext cx="114300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74519" y="1737360"/>
            <a:ext cx="105156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Очистка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54680" y="1600200"/>
            <a:ext cx="114300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737360"/>
            <a:ext cx="105156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Чанкинг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600200"/>
            <a:ext cx="114300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737360"/>
            <a:ext cx="105156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Embeddings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06440" y="1600200"/>
            <a:ext cx="123444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59" y="1737360"/>
            <a:ext cx="114300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Qdrant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4160520"/>
            <a:ext cx="123444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852159" y="4297680"/>
            <a:ext cx="114300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Hybrid 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160520"/>
            <a:ext cx="123444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4297680"/>
            <a:ext cx="114300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Reranker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4160520"/>
            <a:ext cx="123444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0" y="4297680"/>
            <a:ext cx="114300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Qwen 2.5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95560" y="4160520"/>
            <a:ext cx="123444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41280" y="4297680"/>
            <a:ext cx="114300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Ответ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178308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178308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78308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3560" y="178308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434340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34340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5248" y="4343400"/>
            <a:ext cx="2286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143000"/>
            <a:ext cx="2743200" cy="2743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И Н Д Е К С А Ц И 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0" y="3657600"/>
            <a:ext cx="1828800" cy="2743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З А П Р О 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343400"/>
            <a:ext cx="164592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вопрос пользователя 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2606040"/>
            <a:ext cx="3291840" cy="7315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Dense + sparse vectors
Payload: text, file_name, chunk_index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Уровни абстракции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От точки входа до заменяемых реализаций и единой схемы конфигурации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7452360" cy="713232"/>
          </a:xfrm>
          <a:prstGeom prst="roundRect">
            <a:avLst/>
          </a:prstGeom>
          <a:solidFill>
            <a:srgbClr val="132A48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6995160" cy="347472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ptos"/>
              </a:rPr>
              <a:t>ТОЧКА ВХОДА  ·  app.py /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Chainlit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 UI  ·  main.py / CLI  ·  scripts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965960"/>
            <a:ext cx="3017520" cy="292608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↓  вопрос / команда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7452360" cy="841248"/>
          </a:xfrm>
          <a:prstGeom prst="roundRect">
            <a:avLst/>
          </a:prstGeom>
          <a:solidFill>
            <a:srgbClr val="132A48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297180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 dirty="0" err="1">
                <a:solidFill>
                  <a:srgbClr val="FFFFFF"/>
                </a:solidFill>
                <a:latin typeface="Aptos"/>
              </a:rPr>
              <a:t>RAGPipeline</a:t>
            </a:r>
            <a:r>
              <a:rPr sz="1700" b="1" dirty="0">
                <a:solidFill>
                  <a:srgbClr val="FFFFFF"/>
                </a:solidFill>
                <a:latin typeface="Aptos"/>
              </a:rPr>
              <a:t>  —  </a:t>
            </a:r>
            <a:r>
              <a:rPr sz="1700" b="1" dirty="0" err="1">
                <a:solidFill>
                  <a:srgbClr val="FFFFFF"/>
                </a:solidFill>
                <a:latin typeface="Aptos"/>
              </a:rPr>
              <a:t>оркестрация</a:t>
            </a:r>
            <a:endParaRPr sz="17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977640" y="2395728"/>
            <a:ext cx="3840480" cy="347472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lang="en-US" sz="1300" b="0" dirty="0">
                <a:solidFill>
                  <a:srgbClr val="FFFFFF"/>
                </a:solidFill>
                <a:latin typeface="Aptos"/>
              </a:rPr>
              <a:t> ingest  •  retrieve  •  </a:t>
            </a:r>
            <a:r>
              <a:rPr lang="en-US" sz="1300" b="0" dirty="0" err="1">
                <a:solidFill>
                  <a:srgbClr val="FFFFFF"/>
                </a:solidFill>
                <a:latin typeface="Aptos"/>
              </a:rPr>
              <a:t>rerank</a:t>
            </a:r>
            <a:r>
              <a:rPr lang="en-US" sz="1300" b="0" dirty="0">
                <a:solidFill>
                  <a:srgbClr val="FFFFFF"/>
                </a:solidFill>
                <a:latin typeface="Aptos"/>
              </a:rPr>
              <a:t>  •  prompt  • 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3154680"/>
            <a:ext cx="3017520" cy="292608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↓  вызов компонентов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56432"/>
            <a:ext cx="7452360" cy="987552"/>
          </a:xfrm>
          <a:prstGeom prst="roundRect">
            <a:avLst/>
          </a:prstGeom>
          <a:solidFill>
            <a:srgbClr val="132A48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584448"/>
            <a:ext cx="28346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Aptos"/>
              </a:rPr>
              <a:t>СЕРВИСЫ  ·  </a:t>
            </a:r>
            <a:r>
              <a:rPr sz="1500" b="1" dirty="0" err="1">
                <a:solidFill>
                  <a:srgbClr val="FFFFFF"/>
                </a:solidFill>
                <a:latin typeface="Aptos"/>
              </a:rPr>
              <a:t>реализации</a:t>
            </a:r>
            <a:endParaRPr sz="15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840480" y="3566160"/>
            <a:ext cx="3977640" cy="6400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300" b="0" dirty="0">
                <a:solidFill>
                  <a:srgbClr val="FFFFFF"/>
                </a:solidFill>
                <a:latin typeface="Aptos"/>
              </a:rPr>
              <a:t>Parser  •  Splitter  •  Dense / Sparse Embeddings
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Qdrant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Reranker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Ollama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480560"/>
            <a:ext cx="3017520" cy="292608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↓  реализуют контракты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73168"/>
            <a:ext cx="7452360" cy="987552"/>
          </a:xfrm>
          <a:prstGeom prst="roundRect">
            <a:avLst/>
          </a:prstGeom>
          <a:solidFill>
            <a:srgbClr val="132A48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910328"/>
            <a:ext cx="28346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 fontScale="92500"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Aptos"/>
              </a:rPr>
              <a:t>ИНТЕРФЕЙСЫ  ·  core/interfaces.py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7620" y="4917938"/>
            <a:ext cx="4160520" cy="6400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300" b="0" dirty="0" err="1">
                <a:solidFill>
                  <a:srgbClr val="FFFFFF"/>
                </a:solidFill>
                <a:latin typeface="Aptos"/>
              </a:rPr>
              <a:t>DocumentParser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TextSplitter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EmbeddingModel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
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VectorStore</a:t>
            </a:r>
            <a:r>
              <a:rPr sz="1300" b="0" dirty="0">
                <a:solidFill>
                  <a:srgbClr val="FFFFFF"/>
                </a:solidFill>
                <a:latin typeface="Aptos"/>
              </a:rPr>
              <a:t>  •  </a:t>
            </a:r>
            <a:r>
              <a:rPr sz="1300" b="0" dirty="0" err="1">
                <a:solidFill>
                  <a:srgbClr val="FFFFFF"/>
                </a:solidFill>
                <a:latin typeface="Aptos"/>
              </a:rPr>
              <a:t>LLMService</a:t>
            </a:r>
            <a:endParaRPr sz="13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8412480" y="1234440"/>
            <a:ext cx="3063240" cy="4526280"/>
          </a:xfrm>
          <a:prstGeom prst="roundRect">
            <a:avLst/>
          </a:prstGeom>
          <a:solidFill>
            <a:srgbClr val="1B385D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32520" y="1536192"/>
            <a:ext cx="24231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2121408"/>
            <a:ext cx="24231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config.yaml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542032"/>
            <a:ext cx="59436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2907792"/>
            <a:ext cx="24231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config/schema.py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3346704"/>
            <a:ext cx="242316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300" b="0" dirty="0" err="1">
                <a:solidFill>
                  <a:srgbClr val="FFFFFF"/>
                </a:solidFill>
                <a:latin typeface="Aptos"/>
              </a:rPr>
              <a:t>Pydantic-модели</a:t>
            </a:r>
            <a:endParaRPr sz="13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646920" y="3730752"/>
            <a:ext cx="59436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4133087"/>
            <a:ext cx="2423160" cy="68580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Валидация и внедрение
зависимостей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5010912"/>
            <a:ext cx="242316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Один конфиг связывает
UI, pipeline и сервисы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89320"/>
            <a:ext cx="1069848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Абстракции отделяют orchestration от технологий: компонент можно заменить без переписывания UI и основного pipeline.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Подготовка документов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 dirty="0" err="1">
                <a:solidFill>
                  <a:srgbClr val="FFFFFF"/>
                </a:solidFill>
                <a:latin typeface="Aptos"/>
              </a:rPr>
              <a:t>Мягкая</a:t>
            </a:r>
            <a:r>
              <a:rPr sz="11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Aptos"/>
              </a:rPr>
              <a:t>нормализация</a:t>
            </a:r>
            <a:r>
              <a:rPr sz="11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Aptos"/>
              </a:rPr>
              <a:t>сохраняет</a:t>
            </a:r>
            <a:r>
              <a:rPr sz="11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100" b="0" dirty="0" err="1">
                <a:solidFill>
                  <a:srgbClr val="FFFFFF"/>
                </a:solidFill>
                <a:latin typeface="Aptos"/>
              </a:rPr>
              <a:t>смысл</a:t>
            </a:r>
            <a:r>
              <a:rPr sz="1100" b="0" dirty="0">
                <a:solidFill>
                  <a:srgbClr val="FFFFFF"/>
                </a:solidFill>
                <a:latin typeface="Aptos"/>
              </a:rPr>
              <a:t> и </a:t>
            </a:r>
            <a:r>
              <a:rPr sz="1100" b="0" dirty="0" err="1">
                <a:solidFill>
                  <a:srgbClr val="FFFFFF"/>
                </a:solidFill>
                <a:latin typeface="Aptos"/>
              </a:rPr>
              <a:t>структуру</a:t>
            </a:r>
            <a:endParaRPr sz="11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429000" cy="19202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192024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1. Парсинг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2971800" cy="10972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 dirty="0" err="1">
                <a:solidFill>
                  <a:srgbClr val="FFFFFF"/>
                </a:solidFill>
                <a:latin typeface="Aptos"/>
              </a:rPr>
              <a:t>PyMuPDF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читает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текстовые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блоки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PDF. python-docx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сохраняет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исходные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абзацы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DOCX.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19202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73152" cy="1920240"/>
          </a:xfrm>
          <a:prstGeom prst="roundRect">
            <a:avLst/>
          </a:prstGeom>
          <a:solidFill>
            <a:srgbClr val="7890FF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2. Нормализация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84248"/>
            <a:ext cx="2971800" cy="10972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  <a:latin typeface="Aptos"/>
              </a:rPr>
              <a:t>Unicode NFKC,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удаление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невидимых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символов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нормализация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пробелов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склейка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переносов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слов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25880"/>
            <a:ext cx="3429000" cy="19202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325880"/>
            <a:ext cx="73152" cy="1920240"/>
          </a:xfrm>
          <a:prstGeom prst="roundRect">
            <a:avLst/>
          </a:prstGeom>
          <a:solidFill>
            <a:srgbClr val="38DDB1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3. Чанкинг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984248"/>
            <a:ext cx="2971800" cy="10972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  <a:latin typeface="Aptos"/>
              </a:rPr>
              <a:t>Semantic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или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recursive.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Защита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от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длинных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абзацев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и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потоковая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обработка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больших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файлов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Сохраняется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06240"/>
            <a:ext cx="4389120" cy="12801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регистр</a:t>
            </a:r>
            <a:r>
              <a:rPr dirty="0">
                <a:solidFill>
                  <a:srgbClr val="FFFFFF"/>
                </a:solidFill>
                <a:latin typeface="Aptos"/>
              </a:rPr>
              <a:t> и </a:t>
            </a:r>
            <a:r>
              <a:rPr dirty="0" err="1">
                <a:solidFill>
                  <a:srgbClr val="FFFFFF"/>
                </a:solidFill>
                <a:latin typeface="Aptos"/>
              </a:rPr>
              <a:t>пунктуация</a:t>
            </a:r>
            <a:endParaRPr dirty="0">
              <a:solidFill>
                <a:srgbClr val="FFFFFF"/>
              </a:solidFill>
              <a:latin typeface="Aptos"/>
            </a:endParaRP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цифры</a:t>
            </a:r>
            <a:r>
              <a:rPr dirty="0">
                <a:solidFill>
                  <a:srgbClr val="FFFFFF"/>
                </a:solidFill>
                <a:latin typeface="Aptos"/>
              </a:rPr>
              <a:t>, </a:t>
            </a:r>
            <a:r>
              <a:rPr dirty="0" err="1">
                <a:solidFill>
                  <a:srgbClr val="FFFFFF"/>
                </a:solidFill>
                <a:latin typeface="Aptos"/>
              </a:rPr>
              <a:t>формулы</a:t>
            </a:r>
            <a:r>
              <a:rPr dirty="0">
                <a:solidFill>
                  <a:srgbClr val="FFFFFF"/>
                </a:solidFill>
                <a:latin typeface="Aptos"/>
              </a:rPr>
              <a:t> и </a:t>
            </a:r>
            <a:r>
              <a:rPr dirty="0" err="1">
                <a:solidFill>
                  <a:srgbClr val="FFFFFF"/>
                </a:solidFill>
                <a:latin typeface="Aptos"/>
              </a:rPr>
              <a:t>заголовки</a:t>
            </a:r>
            <a:endParaRPr dirty="0">
              <a:solidFill>
                <a:srgbClr val="FFFFFF"/>
              </a:solidFill>
              <a:latin typeface="Aptos"/>
            </a:endParaRP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границы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абзацев</a:t>
            </a:r>
            <a:endParaRPr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3600" y="3794760"/>
            <a:ext cx="1828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Удаляется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4206240"/>
            <a:ext cx="5029200" cy="12801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служебные</a:t>
            </a:r>
            <a:r>
              <a:rPr dirty="0">
                <a:solidFill>
                  <a:srgbClr val="FFFFFF"/>
                </a:solidFill>
                <a:latin typeface="Aptos"/>
              </a:rPr>
              <a:t> Unicode-</a:t>
            </a:r>
            <a:r>
              <a:rPr dirty="0" err="1">
                <a:solidFill>
                  <a:srgbClr val="FFFFFF"/>
                </a:solidFill>
                <a:latin typeface="Aptos"/>
              </a:rPr>
              <a:t>символы</a:t>
            </a:r>
            <a:endParaRPr dirty="0">
              <a:solidFill>
                <a:srgbClr val="FFFFFF"/>
              </a:solidFill>
              <a:latin typeface="Aptos"/>
            </a:endParaRP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случайные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повторные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пробелы</a:t>
            </a:r>
            <a:endParaRPr dirty="0">
              <a:solidFill>
                <a:srgbClr val="FFFFFF"/>
              </a:solidFill>
              <a:latin typeface="Aptos"/>
            </a:endParaRPr>
          </a:p>
          <a:p>
            <a:pPr>
              <a:spcAft>
                <a:spcPts val="1200"/>
              </a:spcAft>
              <a:defRPr sz="1500">
                <a:solidFill>
                  <a:srgbClr val="F1F5F9"/>
                </a:solidFill>
                <a:latin typeface="Ubuntu Sans"/>
              </a:defRPr>
            </a:pPr>
            <a:r>
              <a:rPr dirty="0">
                <a:solidFill>
                  <a:srgbClr val="FFFFFF"/>
                </a:solidFill>
                <a:latin typeface="Aptos"/>
              </a:rPr>
              <a:t>•  </a:t>
            </a:r>
            <a:r>
              <a:rPr dirty="0" err="1">
                <a:solidFill>
                  <a:srgbClr val="FFFFFF"/>
                </a:solidFill>
                <a:latin typeface="Aptos"/>
              </a:rPr>
              <a:t>разрывы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слов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переносом</a:t>
            </a:r>
            <a:r>
              <a:rPr dirty="0">
                <a:solidFill>
                  <a:srgbClr val="FFFFFF"/>
                </a:solidFill>
                <a:latin typeface="Aptos"/>
              </a:rPr>
              <a:t> </a:t>
            </a:r>
            <a:r>
              <a:rPr dirty="0" err="1">
                <a:solidFill>
                  <a:srgbClr val="FFFFFF"/>
                </a:solidFill>
                <a:latin typeface="Aptos"/>
              </a:rPr>
              <a:t>строки</a:t>
            </a:r>
            <a:endParaRPr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Гибридный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Высокий recall на первом этапе, точный ranking на втором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24612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1828800"/>
          </a:xfrm>
          <a:prstGeom prst="roundRect">
            <a:avLst/>
          </a:prstGeom>
          <a:solidFill>
            <a:srgbClr val="7890FF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08760"/>
            <a:ext cx="278892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Dense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278892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intfloat/multilingual-e5-large
1024 измерения
Семантическая близость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1325880"/>
            <a:ext cx="324612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60520" y="1325880"/>
            <a:ext cx="73152" cy="1828800"/>
          </a:xfrm>
          <a:prstGeom prst="roundRect">
            <a:avLst/>
          </a:prstGeom>
          <a:solidFill>
            <a:srgbClr val="F7C65B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16552" y="1508760"/>
            <a:ext cx="278892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Sparse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984248"/>
            <a:ext cx="278892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 dirty="0">
                <a:solidFill>
                  <a:srgbClr val="FFFFFF"/>
                </a:solidFill>
                <a:latin typeface="Aptos"/>
              </a:rPr>
              <a:t>BM25 /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fastembed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
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Точные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термины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имена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,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даты</a:t>
            </a:r>
            <a:r>
              <a:rPr sz="1200" b="0" dirty="0">
                <a:solidFill>
                  <a:srgbClr val="FFFFFF"/>
                </a:solidFill>
                <a:latin typeface="Aptos"/>
              </a:rPr>
              <a:t>
IDF в </a:t>
            </a:r>
            <a:r>
              <a:rPr sz="1200" b="0" dirty="0" err="1">
                <a:solidFill>
                  <a:srgbClr val="FFFFFF"/>
                </a:solidFill>
                <a:latin typeface="Aptos"/>
              </a:rPr>
              <a:t>Qdrant</a:t>
            </a:r>
            <a:endParaRPr sz="120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680960" y="1325880"/>
            <a:ext cx="324612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80960" y="1325880"/>
            <a:ext cx="73152" cy="18288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36992" y="1508760"/>
            <a:ext cx="278892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1984248"/>
            <a:ext cx="278892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Reciprocal Rank Fusion
Объединяет dense и sparse
Top-50 кандидатов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3840480"/>
            <a:ext cx="9966960" cy="14173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417320" y="4206240"/>
            <a:ext cx="18288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Aptos"/>
              </a:rPr>
              <a:t>50 </a:t>
            </a:r>
            <a:r>
              <a:rPr sz="1800" b="1" dirty="0" err="1">
                <a:solidFill>
                  <a:srgbClr val="FFFFFF"/>
                </a:solidFill>
                <a:latin typeface="Aptos"/>
              </a:rPr>
              <a:t>кандидатов</a:t>
            </a:r>
            <a:endParaRPr sz="18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291840" y="4206240"/>
            <a:ext cx="4572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4206240"/>
            <a:ext cx="301752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Aptos"/>
              </a:rPr>
              <a:t>BAAI/</a:t>
            </a:r>
            <a:r>
              <a:rPr sz="1800" b="1" dirty="0" err="1">
                <a:solidFill>
                  <a:srgbClr val="FFFFFF"/>
                </a:solidFill>
                <a:latin typeface="Aptos"/>
              </a:rPr>
              <a:t>bge</a:t>
            </a:r>
            <a:r>
              <a:rPr sz="1800" b="1" dirty="0">
                <a:solidFill>
                  <a:srgbClr val="FFFFFF"/>
                </a:solidFill>
                <a:latin typeface="Aptos"/>
              </a:rPr>
              <a:t>-</a:t>
            </a:r>
            <a:r>
              <a:rPr sz="1800" b="1" dirty="0" err="1">
                <a:solidFill>
                  <a:srgbClr val="FFFFFF"/>
                </a:solidFill>
                <a:latin typeface="Aptos"/>
              </a:rPr>
              <a:t>reranker</a:t>
            </a:r>
            <a:r>
              <a:rPr sz="1800" b="1" dirty="0">
                <a:solidFill>
                  <a:srgbClr val="FFFFFF"/>
                </a:solidFill>
                <a:latin typeface="Aptos"/>
              </a:rPr>
              <a:t>-base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06240"/>
            <a:ext cx="4572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4206240"/>
            <a:ext cx="256032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Aptos"/>
              </a:rPr>
              <a:t>Top-</a:t>
            </a:r>
            <a:r>
              <a:rPr lang="en-US" sz="1800" b="1" dirty="0">
                <a:solidFill>
                  <a:srgbClr val="FFFFFF"/>
                </a:solidFill>
                <a:latin typeface="Aptos"/>
              </a:rPr>
              <a:t>k</a:t>
            </a:r>
            <a:r>
              <a:rPr sz="1800" b="1" dirty="0">
                <a:solidFill>
                  <a:srgbClr val="FFFFFF"/>
                </a:solidFill>
                <a:latin typeface="Aptos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ptos"/>
              </a:rPr>
              <a:t>контекстов</a:t>
            </a:r>
            <a:endParaRPr sz="1800" b="1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Генерация ответа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Один промпт для Web UI, CLI и оценки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029200" cy="448056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201168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RAG-промпт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4389120" cy="23774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КОНТЕКСТ:
[релевантные фрагменты]
ВОПРОС:
[запрос пользователя]
ОТВЕТ: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92040"/>
            <a:ext cx="4389120" cy="5029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Если ответа нет в контексте — модель должна сообщить об этом.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325880"/>
            <a:ext cx="5212080" cy="12344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80760" y="1325880"/>
            <a:ext cx="73152" cy="1234440"/>
          </a:xfrm>
          <a:prstGeom prst="roundRect">
            <a:avLst/>
          </a:prstGeom>
          <a:solidFill>
            <a:srgbClr val="38DDB1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1508760"/>
            <a:ext cx="475488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Асинхронный streaming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6792" y="1984248"/>
            <a:ext cx="475488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Ollama AsyncClient освобождает event loop Chainlit между токенами.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2743200"/>
            <a:ext cx="5212080" cy="12344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2743200"/>
            <a:ext cx="73152" cy="1234440"/>
          </a:xfrm>
          <a:prstGeom prst="roundRect">
            <a:avLst/>
          </a:prstGeom>
          <a:solidFill>
            <a:srgbClr val="7890FF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36792" y="2926080"/>
            <a:ext cx="475488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Прозрачность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401568"/>
            <a:ext cx="475488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Найденные фрагменты доступны в боковой панели интерфейса.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4160520"/>
            <a:ext cx="5212080" cy="123444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080760" y="4160520"/>
            <a:ext cx="73152" cy="123444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36792" y="4343400"/>
            <a:ext cx="475488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Состояние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4818888"/>
            <a:ext cx="475488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Интерфейс показывает прогресс и кеширует модели между сессиями.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Текущая конфигурация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Профиль с приоритетом качества поиска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49047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Embedding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49047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multilingual-e5-large · 1024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49047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49047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Qwen 2.5 · 14B · ctx 16K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834639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99923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Chunking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99923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semantic · 1800 · threshold 90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834639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299923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99923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hybrid · RRF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343400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450799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top-50 → reranker → top-10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343400"/>
            <a:ext cx="5212080" cy="11430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14630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4507992"/>
            <a:ext cx="324612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600" b="1">
                <a:solidFill>
                  <a:srgbClr val="FFFFFF"/>
                </a:solidFill>
                <a:latin typeface="Aptos"/>
              </a:rPr>
              <a:t>temperature 0 · seed 42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52160"/>
            <a:ext cx="1371600" cy="27432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Компромисс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806440"/>
            <a:ext cx="91440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высокое качество retrieval  ↔  повышенная нагрузка на RAM / VRAM и reranker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Оценка качества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Ragas + детерминированные метрики по идентификаторам чанков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429000" cy="14173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141732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Context Precision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297180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Насколько высоко расположены полезные контексты в выдаче.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14173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73152" cy="1417320"/>
          </a:xfrm>
          <a:prstGeom prst="roundRect">
            <a:avLst/>
          </a:prstGeom>
          <a:solidFill>
            <a:srgbClr val="7890FF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Context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84248"/>
            <a:ext cx="297180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Какая доля утверждений эталонного ответа подтверждается контекстом.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25880"/>
            <a:ext cx="3429000" cy="141732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325880"/>
            <a:ext cx="73152" cy="1417320"/>
          </a:xfrm>
          <a:prstGeom prst="roundRect">
            <a:avLst/>
          </a:prstGeom>
          <a:solidFill>
            <a:srgbClr val="38DDB1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Faithfulness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984248"/>
            <a:ext cx="297180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Поддерживается ли сгенерированный ответ найденными фрагментами.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46120"/>
            <a:ext cx="10835640" cy="224028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27432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ID-метрики 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21488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Hit@K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526280"/>
            <a:ext cx="214884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найден ли целевой чанк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160520"/>
            <a:ext cx="21488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MRR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4526280"/>
            <a:ext cx="214884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позиция целевого чанка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160520"/>
            <a:ext cx="21488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Precision@K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526280"/>
            <a:ext cx="214884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доля эталонных ID в выдаче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4160520"/>
            <a:ext cx="214884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Recall@K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4526280"/>
            <a:ext cx="2148840" cy="5943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Aptos"/>
              </a:rPr>
              <a:t>доля найденного эталонного окна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Эксплуатация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Локальная инфраструктура и наблюдаемость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42900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73152" cy="1828800"/>
          </a:xfrm>
          <a:prstGeom prst="roundRect">
            <a:avLst/>
          </a:prstGeom>
          <a:solidFill>
            <a:srgbClr val="7890FF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Qdrant /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984248"/>
            <a:ext cx="297180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Dense и sparse векторы, payload с именем файла и порядковым индексом чанка.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25880"/>
            <a:ext cx="342900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73152" cy="1828800"/>
          </a:xfrm>
          <a:prstGeom prst="roundRect">
            <a:avLst/>
          </a:prstGeom>
          <a:solidFill>
            <a:srgbClr val="38DDB1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Ollama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84248"/>
            <a:ext cx="297180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Локальный inference без отправки содержимого документов во внешние 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325880"/>
            <a:ext cx="3429000" cy="1828800"/>
          </a:xfrm>
          <a:prstGeom prst="roundRect">
            <a:avLst/>
          </a:prstGeom>
          <a:solidFill>
            <a:srgbClr val="132A48"/>
          </a:solidFill>
          <a:ln w="12700">
            <a:solidFill>
              <a:srgbClr val="294A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325880"/>
            <a:ext cx="73152" cy="18288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508760"/>
            <a:ext cx="2971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MLflow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984248"/>
            <a:ext cx="2971800" cy="1005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Параметры экспериментов, Ragas-метрики, latency и детальные отчёты.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94760"/>
            <a:ext cx="27432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Измеряемые задержки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434840"/>
            <a:ext cx="224028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789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617720"/>
            <a:ext cx="20574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Retrieval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20440" y="4434840"/>
            <a:ext cx="224028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F7C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11880" y="4617720"/>
            <a:ext cx="20574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Rerank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434840"/>
            <a:ext cx="224028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8DD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9360" y="4617720"/>
            <a:ext cx="20574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LLM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4434840"/>
            <a:ext cx="2240280" cy="822960"/>
          </a:xfrm>
          <a:prstGeom prst="roundRect">
            <a:avLst/>
          </a:prstGeom>
          <a:solidFill>
            <a:srgbClr val="132A48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06840" y="4617720"/>
            <a:ext cx="2057400" cy="41148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Total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8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oundRect">
            <a:avLst/>
          </a:prstGeom>
          <a:solidFill>
            <a:srgbClr val="35D7F2"/>
          </a:solidFill>
          <a:ln>
            <a:solidFill>
              <a:srgbClr val="35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698480" cy="5486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 Display"/>
              </a:rPr>
              <a:t>Итоги и развитие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9536"/>
            <a:ext cx="1069848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Проект уже покрывает полный цикл локального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20040"/>
            <a:ext cx="36576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r"/>
            <a:r>
              <a:rPr sz="1200" b="1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82880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4754880" cy="3291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потоковая индексация PDF / DOCX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semantic и recursive chunking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hybrid retrieval + reranker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асинхронный Chainlit UI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Ragas и ID-метрики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2560320" cy="36576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Следующие шаги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5029200" cy="32918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валидация synthetic dataset по цитатам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атомарная индексация документов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OCR для сканов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подбор top-k по MLflow</a:t>
            </a:r>
          </a:p>
          <a:p>
            <a:pPr>
              <a:spcAft>
                <a:spcPts val="1200"/>
              </a:spcAft>
              <a:defRPr sz="1700">
                <a:solidFill>
                  <a:srgbClr val="F1F5F9"/>
                </a:solidFill>
                <a:latin typeface="Ubuntu Sans"/>
              </a:defRPr>
            </a:pPr>
            <a:r>
              <a:rPr>
                <a:solidFill>
                  <a:srgbClr val="FFFFFF"/>
                </a:solidFill>
                <a:latin typeface="Aptos"/>
              </a:rPr>
              <a:t>•  фильтрация по документам и метаданным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23560"/>
            <a:ext cx="10424160" cy="594360"/>
          </a:xfrm>
          <a:prstGeom prst="roundRect">
            <a:avLst/>
          </a:prstGeom>
          <a:solidFill>
            <a:srgbClr val="1B385D"/>
          </a:solidFill>
          <a:ln w="12700">
            <a:solidFill>
              <a:srgbClr val="355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>
            <a:normAutofit/>
          </a:bodyPr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5733288"/>
            <a:ext cx="9875520" cy="320040"/>
          </a:xfrm>
          <a:prstGeom prst="roundRect">
            <a:avLst/>
          </a:prstGeom>
          <a:noFill/>
          <a:ln>
            <a:solidFill/>
          </a:ln>
        </p:spPr>
        <p:txBody>
          <a:bodyPr wrap="square" lIns="73152" tIns="36576" rIns="73152" bIns="36576" anchor="ctr">
            <a:norm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LOCAL DATA  →  RELEVANT CONTEXT  →  GROUNDED ANSWER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19456"/>
            <a:ext cx="3337560" cy="15240"/>
          </a:xfrm>
          <a:prstGeom prst="rect">
            <a:avLst/>
          </a:prstGeom>
          <a:solidFill>
            <a:srgbClr val="3557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744200" y="214884"/>
            <a:ext cx="777240" cy="30480"/>
          </a:xfrm>
          <a:prstGeom prst="rect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338560" y="6144768"/>
            <a:ext cx="91440" cy="91440"/>
          </a:xfrm>
          <a:prstGeom prst="ellipse">
            <a:avLst/>
          </a:prstGeom>
          <a:solidFill>
            <a:srgbClr val="35D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137392" y="6144768"/>
            <a:ext cx="54864" cy="54864"/>
          </a:xfrm>
          <a:prstGeom prst="ellipse">
            <a:avLst/>
          </a:prstGeom>
          <a:solidFill>
            <a:srgbClr val="789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19456" y="6163056"/>
            <a:ext cx="54864" cy="54864"/>
          </a:xfrm>
          <a:prstGeom prst="ellipse">
            <a:avLst/>
          </a:prstGeom>
          <a:solidFill>
            <a:srgbClr val="38DD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780</Words>
  <Application>Microsoft Office PowerPoint</Application>
  <PresentationFormat>Широкоэкранный</PresentationFormat>
  <Paragraphs>175</Paragraphs>
  <Slides>11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 RAG System</dc:title>
  <dc:subject>Архитектура и возможности локальной RAG-системы</dc:subject>
  <dc:creator>Local RAG Project</dc:creator>
  <cp:keywords>RAG, Qdrant, Ollama, Chainlit, MLflow, Ragas</cp:keywords>
  <dc:description>generated using python-pptx</dc:description>
  <cp:lastModifiedBy>User</cp:lastModifiedBy>
  <cp:revision>5</cp:revision>
  <dcterms:created xsi:type="dcterms:W3CDTF">2013-01-27T09:14:16Z</dcterms:created>
  <dcterms:modified xsi:type="dcterms:W3CDTF">2026-10-07T11:57:50Z</dcterms:modified>
  <cp:category/>
</cp:coreProperties>
</file>