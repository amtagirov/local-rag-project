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35D7F2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63840" y="-457200"/>
            <a:ext cx="4937760" cy="7680960"/>
          </a:xfrm>
          <a:prstGeom prst="roundRect">
            <a:avLst/>
          </a:prstGeom>
          <a:solidFill>
            <a:srgbClr val="1B385D"/>
          </a:solidFill>
          <a:ln w="12700">
            <a:solidFill>
              <a:srgbClr val="35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766560" cy="73152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 Display"/>
              </a:rPr>
              <a:t>LOCAL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583680" cy="50292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Система ответов по локальным документам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6583680" cy="91440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Модульная архитектура  •  Гибридный поиск
Reranking  •  Локальная LLM  •  Оценка качества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6400800" cy="41148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Конфиденциальный RAG для PDF и DOCX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1188720"/>
            <a:ext cx="2971800" cy="96012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41080" y="1399032"/>
            <a:ext cx="2606040" cy="50292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PDF / DOCX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697480"/>
            <a:ext cx="2971800" cy="96012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41080" y="2907791"/>
            <a:ext cx="2606040" cy="50292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Qdrant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4206240"/>
            <a:ext cx="2971800" cy="96012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4416552"/>
            <a:ext cx="2606040" cy="50292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Qwen 2.5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263640"/>
            <a:ext cx="640080" cy="27432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219456"/>
            <a:ext cx="3337560" cy="15240"/>
          </a:xfrm>
          <a:prstGeom prst="rect">
            <a:avLst/>
          </a:prstGeom>
          <a:solidFill>
            <a:srgbClr val="355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744200" y="214884"/>
            <a:ext cx="777240" cy="30480"/>
          </a:xfrm>
          <a:prstGeom prst="rect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338560" y="6144768"/>
            <a:ext cx="91440" cy="91440"/>
          </a:xfrm>
          <a:prstGeom prst="ellipse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37392" y="6144768"/>
            <a:ext cx="54864" cy="54864"/>
          </a:xfrm>
          <a:prstGeom prst="ellipse">
            <a:avLst/>
          </a:prstGeom>
          <a:solidFill>
            <a:srgbClr val="7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19456" y="6163056"/>
            <a:ext cx="54864" cy="54864"/>
          </a:xfrm>
          <a:prstGeom prst="ellipse">
            <a:avLst/>
          </a:prstGeom>
          <a:solidFill>
            <a:srgbClr val="38D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35D7F2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486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Задачи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69848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Практическая RAG-система и стенд для воспроизводимых экспериментов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606040" cy="205740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2057400"/>
          </a:xfrm>
          <a:prstGeom prst="roundRect">
            <a:avLst/>
          </a:prstGeom>
          <a:solidFill>
            <a:srgbClr val="FF7A90"/>
          </a:solidFill>
          <a:ln>
            <a:solidFill>
              <a:srgbClr val="FF7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08760"/>
            <a:ext cx="214884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Проблема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84248"/>
            <a:ext cx="2148840" cy="12344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lang="ru-RU" sz="1200" dirty="0">
                <a:solidFill>
                  <a:srgbClr val="FFFFFF"/>
                </a:solidFill>
                <a:latin typeface="Aptos"/>
              </a:rPr>
              <a:t>Значимая доля корпоративной документации </a:t>
            </a:r>
            <a:r>
              <a:rPr lang="ru-RU" sz="1200" dirty="0" err="1">
                <a:solidFill>
                  <a:srgbClr val="FFFFFF"/>
                </a:solidFill>
                <a:latin typeface="Aptos"/>
              </a:rPr>
              <a:t>неструктурирована</a:t>
            </a:r>
            <a:r>
              <a:rPr lang="ru-RU" sz="1200" dirty="0">
                <a:solidFill>
                  <a:srgbClr val="FFFFFF"/>
                </a:solidFill>
                <a:latin typeface="Aptos"/>
              </a:rPr>
              <a:t>. </a:t>
            </a:r>
          </a:p>
          <a:p>
            <a:pPr algn="l"/>
            <a:endParaRPr lang="ru-RU"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383280" y="1325880"/>
            <a:ext cx="2606040" cy="205740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325880"/>
            <a:ext cx="73152" cy="2057400"/>
          </a:xfrm>
          <a:prstGeom prst="roundRect">
            <a:avLst/>
          </a:prstGeom>
          <a:solidFill>
            <a:srgbClr val="35D7F2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9312" y="1508760"/>
            <a:ext cx="214884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/>
          </a:bodyPr>
          <a:lstStyle/>
          <a:p>
            <a:pPr algn="l"/>
            <a:r>
              <a:rPr sz="1700" b="1" dirty="0" err="1">
                <a:solidFill>
                  <a:srgbClr val="FFFFFF"/>
                </a:solidFill>
                <a:latin typeface="Aptos"/>
              </a:rPr>
              <a:t>Практическая</a:t>
            </a:r>
            <a:r>
              <a:rPr lang="ru-RU" sz="1700" b="1" dirty="0">
                <a:solidFill>
                  <a:srgbClr val="FFFFFF"/>
                </a:solidFill>
                <a:latin typeface="Aptos"/>
              </a:rPr>
              <a:t> задача</a:t>
            </a:r>
            <a:endParaRPr sz="17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39312" y="1984248"/>
            <a:ext cx="2148840" cy="12344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200" b="0" dirty="0" err="1">
                <a:solidFill>
                  <a:srgbClr val="FFFFFF"/>
                </a:solidFill>
                <a:latin typeface="Aptos"/>
              </a:rPr>
              <a:t>Создать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приватную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систему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которая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находит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контекст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lang="ru-RU" sz="1200" b="0" dirty="0">
                <a:solidFill>
                  <a:srgbClr val="FFFFFF"/>
                </a:solidFill>
                <a:latin typeface="Aptos"/>
              </a:rPr>
              <a:t>в локальной базе документов и дает качественный структурированный ответ на запросы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26480" y="1325880"/>
            <a:ext cx="2606040" cy="205740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325880"/>
            <a:ext cx="73152" cy="2057400"/>
          </a:xfrm>
          <a:prstGeom prst="roundRect">
            <a:avLst/>
          </a:prstGeom>
          <a:solidFill>
            <a:srgbClr val="F7C65B"/>
          </a:solidFill>
          <a:ln>
            <a:solidFill>
              <a:srgbClr val="F7C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508760"/>
            <a:ext cx="214884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77500" lnSpcReduction="20000"/>
          </a:bodyPr>
          <a:lstStyle/>
          <a:p>
            <a:pPr algn="l"/>
            <a:r>
              <a:rPr sz="1700" b="1" dirty="0" err="1">
                <a:solidFill>
                  <a:srgbClr val="FFFFFF"/>
                </a:solidFill>
                <a:latin typeface="Aptos"/>
              </a:rPr>
              <a:t>Исслед</a:t>
            </a:r>
            <a:r>
              <a:rPr lang="ru-RU" sz="1700" b="1" dirty="0" err="1">
                <a:solidFill>
                  <a:srgbClr val="FFFFFF"/>
                </a:solidFill>
                <a:latin typeface="Aptos"/>
              </a:rPr>
              <a:t>овательская</a:t>
            </a:r>
            <a:r>
              <a:rPr lang="ru-RU" sz="1700" b="1" dirty="0">
                <a:solidFill>
                  <a:srgbClr val="FFFFFF"/>
                </a:solidFill>
                <a:latin typeface="Aptos"/>
              </a:rPr>
              <a:t> задача</a:t>
            </a:r>
            <a:endParaRPr sz="17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82512" y="1984248"/>
            <a:ext cx="2148840" cy="12344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200" b="0" dirty="0" err="1">
                <a:solidFill>
                  <a:srgbClr val="FFFFFF"/>
                </a:solidFill>
                <a:latin typeface="Aptos"/>
              </a:rPr>
              <a:t>Оценить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как</a:t>
            </a:r>
            <a:r>
              <a:rPr lang="ru-RU" sz="1200" b="0" dirty="0">
                <a:solidFill>
                  <a:srgbClr val="FFFFFF"/>
                </a:solidFill>
                <a:latin typeface="Aptos"/>
              </a:rPr>
              <a:t> модели,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чанкинг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, retrieval, reranking и top-k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влияют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на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качество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и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задержку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325880"/>
            <a:ext cx="2606040" cy="205740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69680" y="1325880"/>
            <a:ext cx="73152" cy="2057400"/>
          </a:xfrm>
          <a:prstGeom prst="roundRect">
            <a:avLst/>
          </a:prstGeom>
          <a:solidFill>
            <a:srgbClr val="38DDB1"/>
          </a:solidFill>
          <a:ln>
            <a:solidFill>
              <a:srgbClr val="38D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25711" y="1508760"/>
            <a:ext cx="214884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lang="ru-RU" sz="1700" b="1" dirty="0">
                <a:solidFill>
                  <a:srgbClr val="FFFFFF"/>
                </a:solidFill>
                <a:latin typeface="Aptos"/>
              </a:rPr>
              <a:t>Инженерная задача</a:t>
            </a:r>
            <a:endParaRPr sz="17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25711" y="1984248"/>
            <a:ext cx="2148840" cy="12344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lang="ru-RU" sz="1200" b="0" dirty="0">
                <a:solidFill>
                  <a:srgbClr val="FFFFFF"/>
                </a:solidFill>
                <a:latin typeface="Aptos"/>
              </a:rPr>
              <a:t>Сделать систему модульной и адаптивной.</a:t>
            </a:r>
          </a:p>
          <a:p>
            <a:pPr algn="l"/>
            <a:r>
              <a:rPr sz="1200" b="0" dirty="0" err="1">
                <a:solidFill>
                  <a:srgbClr val="FFFFFF"/>
                </a:solidFill>
                <a:latin typeface="Aptos"/>
              </a:rPr>
              <a:t>Заменять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модели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и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этапы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независимо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благодаря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абстракциям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и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модульным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интерфейсам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94760"/>
            <a:ext cx="10835640" cy="1874519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023360"/>
            <a:ext cx="228600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Принцип проекта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617720"/>
            <a:ext cx="9966960" cy="5943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600" b="1" dirty="0" err="1">
                <a:solidFill>
                  <a:srgbClr val="FFFFFF"/>
                </a:solidFill>
                <a:latin typeface="Aptos"/>
              </a:rPr>
              <a:t>Единый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пайплайн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 • 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Заменяемые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компоненты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 • 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Управляемые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Aptos"/>
              </a:rPr>
              <a:t>параметры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 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19456"/>
            <a:ext cx="3337560" cy="15240"/>
          </a:xfrm>
          <a:prstGeom prst="rect">
            <a:avLst/>
          </a:prstGeom>
          <a:solidFill>
            <a:srgbClr val="355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744200" y="214884"/>
            <a:ext cx="777240" cy="30480"/>
          </a:xfrm>
          <a:prstGeom prst="rect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338560" y="6144768"/>
            <a:ext cx="91440" cy="91440"/>
          </a:xfrm>
          <a:prstGeom prst="ellipse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137392" y="6144768"/>
            <a:ext cx="54864" cy="54864"/>
          </a:xfrm>
          <a:prstGeom prst="ellipse">
            <a:avLst/>
          </a:prstGeom>
          <a:solidFill>
            <a:srgbClr val="7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19456" y="6163056"/>
            <a:ext cx="54864" cy="54864"/>
          </a:xfrm>
          <a:prstGeom prst="ellipse">
            <a:avLst/>
          </a:prstGeom>
          <a:solidFill>
            <a:srgbClr val="38D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35D7F2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486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69848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Два независимых потока: индексация и обработка запроса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43000" cy="822960"/>
          </a:xfrm>
          <a:prstGeom prst="roundRect">
            <a:avLst/>
          </a:prstGeom>
          <a:solidFill>
            <a:srgbClr val="132A48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51560" cy="50292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PDF / DOCX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600200"/>
            <a:ext cx="1143000" cy="822960"/>
          </a:xfrm>
          <a:prstGeom prst="roundRect">
            <a:avLst/>
          </a:prstGeom>
          <a:solidFill>
            <a:srgbClr val="132A48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74519" y="1737360"/>
            <a:ext cx="1051560" cy="50292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Очистка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600200"/>
            <a:ext cx="1143000" cy="822960"/>
          </a:xfrm>
          <a:prstGeom prst="roundRect">
            <a:avLst/>
          </a:prstGeom>
          <a:solidFill>
            <a:srgbClr val="132A48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0" y="1737360"/>
            <a:ext cx="1051560" cy="50292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Чанкинг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600200"/>
            <a:ext cx="1143000" cy="822960"/>
          </a:xfrm>
          <a:prstGeom prst="roundRect">
            <a:avLst/>
          </a:prstGeom>
          <a:solidFill>
            <a:srgbClr val="132A48"/>
          </a:solidFill>
          <a:ln>
            <a:solidFill>
              <a:srgbClr val="7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737360"/>
            <a:ext cx="1051560" cy="50292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Embeddings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1600200"/>
            <a:ext cx="1234440" cy="822960"/>
          </a:xfrm>
          <a:prstGeom prst="roundRect">
            <a:avLst/>
          </a:prstGeom>
          <a:solidFill>
            <a:srgbClr val="132A48"/>
          </a:solidFill>
          <a:ln>
            <a:solidFill>
              <a:srgbClr val="7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52159" y="1737360"/>
            <a:ext cx="1143000" cy="50292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Qdrant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4160520"/>
            <a:ext cx="1234440" cy="822960"/>
          </a:xfrm>
          <a:prstGeom prst="roundRect">
            <a:avLst/>
          </a:prstGeom>
          <a:solidFill>
            <a:srgbClr val="132A48"/>
          </a:solidFill>
          <a:ln>
            <a:solidFill>
              <a:srgbClr val="F7C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52159" y="4297680"/>
            <a:ext cx="1143000" cy="50292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Hybrid search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4160520"/>
            <a:ext cx="1234440" cy="822960"/>
          </a:xfrm>
          <a:prstGeom prst="roundRect">
            <a:avLst/>
          </a:prstGeom>
          <a:solidFill>
            <a:srgbClr val="132A48"/>
          </a:solidFill>
          <a:ln>
            <a:solidFill>
              <a:srgbClr val="F7C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0" y="4297680"/>
            <a:ext cx="1143000" cy="50292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Reranker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4160520"/>
            <a:ext cx="1234440" cy="822960"/>
          </a:xfrm>
          <a:prstGeom prst="roundRect">
            <a:avLst/>
          </a:prstGeom>
          <a:solidFill>
            <a:srgbClr val="132A48"/>
          </a:solidFill>
          <a:ln>
            <a:solidFill>
              <a:srgbClr val="38D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0" y="4297680"/>
            <a:ext cx="1143000" cy="50292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Qwen 2.5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95560" y="4160520"/>
            <a:ext cx="1234440" cy="822960"/>
          </a:xfrm>
          <a:prstGeom prst="roundRect">
            <a:avLst/>
          </a:prstGeom>
          <a:solidFill>
            <a:srgbClr val="132A48"/>
          </a:solidFill>
          <a:ln>
            <a:solidFill>
              <a:srgbClr val="38D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0" y="4297680"/>
            <a:ext cx="1143000" cy="50292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Ответ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1783080"/>
            <a:ext cx="22860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20000"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1783080"/>
            <a:ext cx="22860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20000"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1783080"/>
            <a:ext cx="22860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20000"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1783080"/>
            <a:ext cx="22860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20000"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343400"/>
            <a:ext cx="22860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20000"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4343400"/>
            <a:ext cx="22860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20000"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85248" y="4343400"/>
            <a:ext cx="22860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20000"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1143000"/>
            <a:ext cx="2743200" cy="27432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И Н Д Е К С А Ц И 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3657600"/>
            <a:ext cx="1828800" cy="27432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З А П Р О 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4343400"/>
            <a:ext cx="164592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вопрос пользователя  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2606040"/>
            <a:ext cx="3291840" cy="73152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Dense + sparse vectors
Payload: text, file_name, chunk_index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9" y="219456"/>
            <a:ext cx="3337560" cy="15240"/>
          </a:xfrm>
          <a:prstGeom prst="rect">
            <a:avLst/>
          </a:prstGeom>
          <a:solidFill>
            <a:srgbClr val="355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744200" y="214884"/>
            <a:ext cx="777240" cy="30480"/>
          </a:xfrm>
          <a:prstGeom prst="rect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338560" y="6144768"/>
            <a:ext cx="91440" cy="91440"/>
          </a:xfrm>
          <a:prstGeom prst="ellipse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137392" y="6144768"/>
            <a:ext cx="54864" cy="54864"/>
          </a:xfrm>
          <a:prstGeom prst="ellipse">
            <a:avLst/>
          </a:prstGeom>
          <a:solidFill>
            <a:srgbClr val="7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19456" y="6163056"/>
            <a:ext cx="54864" cy="54864"/>
          </a:xfrm>
          <a:prstGeom prst="ellipse">
            <a:avLst/>
          </a:prstGeom>
          <a:solidFill>
            <a:srgbClr val="38D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35D7F2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486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Уровни абстракции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69848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От точки входа до заменяемых реализаций и единой схемы конфигурации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452360" cy="713232"/>
          </a:xfrm>
          <a:prstGeom prst="roundRect">
            <a:avLst/>
          </a:prstGeom>
          <a:solidFill>
            <a:srgbClr val="132A48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89888"/>
            <a:ext cx="6995160" cy="347472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ТОЧКА ВХОДА  ·  app.py / </a:t>
            </a:r>
            <a:r>
              <a:rPr sz="1500" b="1" dirty="0" err="1">
                <a:solidFill>
                  <a:srgbClr val="FFFFFF"/>
                </a:solidFill>
                <a:latin typeface="Aptos"/>
              </a:rPr>
              <a:t>Chainlit</a:t>
            </a:r>
            <a:r>
              <a:rPr sz="1500" b="1" dirty="0">
                <a:solidFill>
                  <a:srgbClr val="FFFFFF"/>
                </a:solidFill>
                <a:latin typeface="Aptos"/>
              </a:rPr>
              <a:t> UI  ·  main.py / CLI  ·  scripts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965960"/>
            <a:ext cx="3017520" cy="292608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↓  вопрос / команда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7452360" cy="841248"/>
          </a:xfrm>
          <a:prstGeom prst="roundRect">
            <a:avLst/>
          </a:prstGeom>
          <a:solidFill>
            <a:srgbClr val="132A48"/>
          </a:solidFill>
          <a:ln>
            <a:solidFill>
              <a:srgbClr val="38D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395728"/>
            <a:ext cx="297180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20000"/>
          </a:bodyPr>
          <a:lstStyle/>
          <a:p>
            <a:pPr algn="l"/>
            <a:r>
              <a:rPr sz="1700" b="1" dirty="0" err="1">
                <a:solidFill>
                  <a:srgbClr val="FFFFFF"/>
                </a:solidFill>
                <a:latin typeface="Aptos"/>
              </a:rPr>
              <a:t>RAGPipeline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 —  </a:t>
            </a:r>
            <a:r>
              <a:rPr sz="1700" b="1" dirty="0" err="1">
                <a:solidFill>
                  <a:srgbClr val="FFFFFF"/>
                </a:solidFill>
                <a:latin typeface="Aptos"/>
              </a:rPr>
              <a:t>оркестрация</a:t>
            </a:r>
            <a:endParaRPr sz="17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77640" y="2395728"/>
            <a:ext cx="3840480" cy="347472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lang="en-US" sz="1300" b="0" dirty="0">
                <a:solidFill>
                  <a:srgbClr val="FFFFFF"/>
                </a:solidFill>
                <a:latin typeface="Aptos"/>
              </a:rPr>
              <a:t> ingest  •  retrieve  •  </a:t>
            </a:r>
            <a:r>
              <a:rPr lang="en-US" sz="1300" b="0" dirty="0" err="1">
                <a:solidFill>
                  <a:srgbClr val="FFFFFF"/>
                </a:solidFill>
                <a:latin typeface="Aptos"/>
              </a:rPr>
              <a:t>rerank</a:t>
            </a:r>
            <a:r>
              <a:rPr lang="en-US" sz="1300" b="0" dirty="0">
                <a:solidFill>
                  <a:srgbClr val="FFFFFF"/>
                </a:solidFill>
                <a:latin typeface="Aptos"/>
              </a:rPr>
              <a:t>  •  prompt  •  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154680"/>
            <a:ext cx="3017520" cy="292608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↓  вызов компонентов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56432"/>
            <a:ext cx="7452360" cy="987552"/>
          </a:xfrm>
          <a:prstGeom prst="roundRect">
            <a:avLst/>
          </a:prstGeom>
          <a:solidFill>
            <a:srgbClr val="132A48"/>
          </a:solidFill>
          <a:ln>
            <a:solidFill>
              <a:srgbClr val="7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584448"/>
            <a:ext cx="283464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СЕРВИСЫ  ·  </a:t>
            </a:r>
            <a:r>
              <a:rPr sz="1500" b="1" dirty="0" err="1">
                <a:solidFill>
                  <a:srgbClr val="FFFFFF"/>
                </a:solidFill>
                <a:latin typeface="Aptos"/>
              </a:rPr>
              <a:t>реализации</a:t>
            </a:r>
            <a:endParaRPr sz="15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40480" y="3566160"/>
            <a:ext cx="3977640" cy="64008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sz="1300" b="0" dirty="0">
                <a:solidFill>
                  <a:srgbClr val="FFFFFF"/>
                </a:solidFill>
                <a:latin typeface="Aptos"/>
              </a:rPr>
              <a:t>Parser  •  Splitter  •  Dense / Sparse Embeddings
</a:t>
            </a:r>
            <a:r>
              <a:rPr sz="1300" b="0" dirty="0" err="1">
                <a:solidFill>
                  <a:srgbClr val="FFFFFF"/>
                </a:solidFill>
                <a:latin typeface="Aptos"/>
              </a:rPr>
              <a:t>Qdrant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  •  </a:t>
            </a:r>
            <a:r>
              <a:rPr sz="1300" b="0" dirty="0" err="1">
                <a:solidFill>
                  <a:srgbClr val="FFFFFF"/>
                </a:solidFill>
                <a:latin typeface="Aptos"/>
              </a:rPr>
              <a:t>Reranker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  •  </a:t>
            </a:r>
            <a:r>
              <a:rPr sz="1300" b="0" dirty="0" err="1">
                <a:solidFill>
                  <a:srgbClr val="FFFFFF"/>
                </a:solidFill>
                <a:latin typeface="Aptos"/>
              </a:rPr>
              <a:t>Ollama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480560"/>
            <a:ext cx="3017520" cy="292608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↓  реализуют контракты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73168"/>
            <a:ext cx="7452360" cy="987552"/>
          </a:xfrm>
          <a:prstGeom prst="roundRect">
            <a:avLst/>
          </a:prstGeom>
          <a:solidFill>
            <a:srgbClr val="132A48"/>
          </a:solidFill>
          <a:ln>
            <a:solidFill>
              <a:srgbClr val="F7C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910328"/>
            <a:ext cx="283464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ИНТЕРФЕЙСЫ  ·  core/interfaces.py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7620" y="4917938"/>
            <a:ext cx="4160520" cy="64008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sz="1300" b="0" dirty="0" err="1">
                <a:solidFill>
                  <a:srgbClr val="FFFFFF"/>
                </a:solidFill>
                <a:latin typeface="Aptos"/>
              </a:rPr>
              <a:t>DocumentParser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  •  </a:t>
            </a:r>
            <a:r>
              <a:rPr sz="1300" b="0" dirty="0" err="1">
                <a:solidFill>
                  <a:srgbClr val="FFFFFF"/>
                </a:solidFill>
                <a:latin typeface="Aptos"/>
              </a:rPr>
              <a:t>TextSplitter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  •  </a:t>
            </a:r>
            <a:r>
              <a:rPr sz="1300" b="0" dirty="0" err="1">
                <a:solidFill>
                  <a:srgbClr val="FFFFFF"/>
                </a:solidFill>
                <a:latin typeface="Aptos"/>
              </a:rPr>
              <a:t>EmbeddingModel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
</a:t>
            </a:r>
            <a:r>
              <a:rPr sz="1300" b="0" dirty="0" err="1">
                <a:solidFill>
                  <a:srgbClr val="FFFFFF"/>
                </a:solidFill>
                <a:latin typeface="Aptos"/>
              </a:rPr>
              <a:t>VectorStore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  •  </a:t>
            </a:r>
            <a:r>
              <a:rPr sz="1300" b="0" dirty="0" err="1">
                <a:solidFill>
                  <a:srgbClr val="FFFFFF"/>
                </a:solidFill>
                <a:latin typeface="Aptos"/>
              </a:rPr>
              <a:t>LLMService</a:t>
            </a:r>
            <a:endParaRPr sz="13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412480" y="1234440"/>
            <a:ext cx="3063240" cy="4526280"/>
          </a:xfrm>
          <a:prstGeom prst="roundRect">
            <a:avLst/>
          </a:prstGeom>
          <a:solidFill>
            <a:srgbClr val="1B385D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32520" y="1536192"/>
            <a:ext cx="242316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20000"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121408"/>
            <a:ext cx="242316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config.yaml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542032"/>
            <a:ext cx="59436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20000"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907792"/>
            <a:ext cx="242316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config/schema.py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3346704"/>
            <a:ext cx="242316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300" b="0" dirty="0" err="1">
                <a:solidFill>
                  <a:srgbClr val="FFFFFF"/>
                </a:solidFill>
                <a:latin typeface="Aptos"/>
              </a:rPr>
              <a:t>Pydantic-модели</a:t>
            </a:r>
            <a:endParaRPr sz="13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46920" y="3730752"/>
            <a:ext cx="59436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20000"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4133087"/>
            <a:ext cx="2423160" cy="68580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Валидация и внедрение
зависимостей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5010912"/>
            <a:ext cx="2423160" cy="50292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Один конфиг связывает
UI, pipeline и сервисы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89320"/>
            <a:ext cx="10698480" cy="41148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Абстракции отделяют orchestration от технологий: компонент можно заменить без переписывания UI и основного pipeline.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219456"/>
            <a:ext cx="3337560" cy="15240"/>
          </a:xfrm>
          <a:prstGeom prst="rect">
            <a:avLst/>
          </a:prstGeom>
          <a:solidFill>
            <a:srgbClr val="355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744200" y="214884"/>
            <a:ext cx="777240" cy="30480"/>
          </a:xfrm>
          <a:prstGeom prst="rect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338560" y="6144768"/>
            <a:ext cx="91440" cy="91440"/>
          </a:xfrm>
          <a:prstGeom prst="ellipse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137392" y="6144768"/>
            <a:ext cx="54864" cy="54864"/>
          </a:xfrm>
          <a:prstGeom prst="ellipse">
            <a:avLst/>
          </a:prstGeom>
          <a:solidFill>
            <a:srgbClr val="7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19456" y="6163056"/>
            <a:ext cx="54864" cy="54864"/>
          </a:xfrm>
          <a:prstGeom prst="ellipse">
            <a:avLst/>
          </a:prstGeom>
          <a:solidFill>
            <a:srgbClr val="38D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35D7F2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486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Подготовка документов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69848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100" b="0" dirty="0" err="1">
                <a:solidFill>
                  <a:srgbClr val="FFFFFF"/>
                </a:solidFill>
                <a:latin typeface="Aptos"/>
              </a:rPr>
              <a:t>Мягкая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FFFFFF"/>
                </a:solidFill>
                <a:latin typeface="Aptos"/>
              </a:rPr>
              <a:t>нормализация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FFFFFF"/>
                </a:solidFill>
                <a:latin typeface="Aptos"/>
              </a:rPr>
              <a:t>сохраняет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FFFFFF"/>
                </a:solidFill>
                <a:latin typeface="Aptos"/>
              </a:rPr>
              <a:t>смысл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 и </a:t>
            </a:r>
            <a:r>
              <a:rPr sz="1100" b="0" dirty="0" err="1">
                <a:solidFill>
                  <a:srgbClr val="FFFFFF"/>
                </a:solidFill>
                <a:latin typeface="Aptos"/>
              </a:rPr>
              <a:t>структуру</a:t>
            </a:r>
            <a:endParaRPr sz="11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29000" cy="192024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920240"/>
          </a:xfrm>
          <a:prstGeom prst="roundRect">
            <a:avLst/>
          </a:prstGeom>
          <a:solidFill>
            <a:srgbClr val="35D7F2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08760"/>
            <a:ext cx="297180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1. Парсинг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84248"/>
            <a:ext cx="2971800" cy="109728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200" b="0" dirty="0" err="1">
                <a:solidFill>
                  <a:srgbClr val="FFFFFF"/>
                </a:solidFill>
                <a:latin typeface="Aptos"/>
              </a:rPr>
              <a:t>PyMuPDF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читает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текстовые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блоки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PDF. python-docx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сохраняет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исходные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абзацы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DOCX.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29000" cy="192024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73152" cy="1920240"/>
          </a:xfrm>
          <a:prstGeom prst="roundRect">
            <a:avLst/>
          </a:prstGeom>
          <a:solidFill>
            <a:srgbClr val="7890FF"/>
          </a:solidFill>
          <a:ln>
            <a:solidFill>
              <a:srgbClr val="7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508760"/>
            <a:ext cx="297180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2. Нормализация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984248"/>
            <a:ext cx="2971800" cy="109728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  <a:latin typeface="Aptos"/>
              </a:rPr>
              <a:t>Unicode NFKC,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удаление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невидимых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символов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нормализация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пробелов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склейка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переносов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слов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429000" cy="192024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73152" cy="1920240"/>
          </a:xfrm>
          <a:prstGeom prst="roundRect">
            <a:avLst/>
          </a:prstGeom>
          <a:solidFill>
            <a:srgbClr val="38DDB1"/>
          </a:solidFill>
          <a:ln>
            <a:solidFill>
              <a:srgbClr val="38D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1508760"/>
            <a:ext cx="297180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3. Чанкинг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984248"/>
            <a:ext cx="2971800" cy="109728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  <a:latin typeface="Aptos"/>
              </a:rPr>
              <a:t>Semantic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или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recursive.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Защита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от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длинных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абзацев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и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потоковая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обработка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больших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файлов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94760"/>
            <a:ext cx="182880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Сохраняется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06240"/>
            <a:ext cx="4389120" cy="12801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Ubuntu Sans"/>
              </a:defRPr>
            </a:pPr>
            <a:r>
              <a:rPr dirty="0">
                <a:solidFill>
                  <a:srgbClr val="FFFFFF"/>
                </a:solidFill>
                <a:latin typeface="Aptos"/>
              </a:rPr>
              <a:t>•  </a:t>
            </a:r>
            <a:r>
              <a:rPr dirty="0" err="1">
                <a:solidFill>
                  <a:srgbClr val="FFFFFF"/>
                </a:solidFill>
                <a:latin typeface="Aptos"/>
              </a:rPr>
              <a:t>регистр</a:t>
            </a:r>
            <a:r>
              <a:rPr dirty="0">
                <a:solidFill>
                  <a:srgbClr val="FFFFFF"/>
                </a:solidFill>
                <a:latin typeface="Aptos"/>
              </a:rPr>
              <a:t> и </a:t>
            </a:r>
            <a:r>
              <a:rPr dirty="0" err="1">
                <a:solidFill>
                  <a:srgbClr val="FFFFFF"/>
                </a:solidFill>
                <a:latin typeface="Aptos"/>
              </a:rPr>
              <a:t>пунктуация</a:t>
            </a:r>
            <a:endParaRPr dirty="0">
              <a:solidFill>
                <a:srgbClr val="FFFFFF"/>
              </a:solidFill>
              <a:latin typeface="Aptos"/>
            </a:endParaRP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Ubuntu Sans"/>
              </a:defRPr>
            </a:pPr>
            <a:r>
              <a:rPr dirty="0">
                <a:solidFill>
                  <a:srgbClr val="FFFFFF"/>
                </a:solidFill>
                <a:latin typeface="Aptos"/>
              </a:rPr>
              <a:t>•  </a:t>
            </a:r>
            <a:r>
              <a:rPr dirty="0" err="1">
                <a:solidFill>
                  <a:srgbClr val="FFFFFF"/>
                </a:solidFill>
                <a:latin typeface="Aptos"/>
              </a:rPr>
              <a:t>цифры</a:t>
            </a:r>
            <a:r>
              <a:rPr dirty="0">
                <a:solidFill>
                  <a:srgbClr val="FFFFFF"/>
                </a:solidFill>
                <a:latin typeface="Aptos"/>
              </a:rPr>
              <a:t>, </a:t>
            </a:r>
            <a:r>
              <a:rPr dirty="0" err="1">
                <a:solidFill>
                  <a:srgbClr val="FFFFFF"/>
                </a:solidFill>
                <a:latin typeface="Aptos"/>
              </a:rPr>
              <a:t>формулы</a:t>
            </a:r>
            <a:r>
              <a:rPr dirty="0">
                <a:solidFill>
                  <a:srgbClr val="FFFFFF"/>
                </a:solidFill>
                <a:latin typeface="Aptos"/>
              </a:rPr>
              <a:t> и </a:t>
            </a:r>
            <a:r>
              <a:rPr dirty="0" err="1">
                <a:solidFill>
                  <a:srgbClr val="FFFFFF"/>
                </a:solidFill>
                <a:latin typeface="Aptos"/>
              </a:rPr>
              <a:t>заголовки</a:t>
            </a:r>
            <a:endParaRPr dirty="0">
              <a:solidFill>
                <a:srgbClr val="FFFFFF"/>
              </a:solidFill>
              <a:latin typeface="Aptos"/>
            </a:endParaRP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Ubuntu Sans"/>
              </a:defRPr>
            </a:pPr>
            <a:r>
              <a:rPr dirty="0">
                <a:solidFill>
                  <a:srgbClr val="FFFFFF"/>
                </a:solidFill>
                <a:latin typeface="Aptos"/>
              </a:rPr>
              <a:t>•  </a:t>
            </a:r>
            <a:r>
              <a:rPr dirty="0" err="1">
                <a:solidFill>
                  <a:srgbClr val="FFFFFF"/>
                </a:solidFill>
                <a:latin typeface="Aptos"/>
              </a:rPr>
              <a:t>границы</a:t>
            </a:r>
            <a:r>
              <a:rPr dirty="0">
                <a:solidFill>
                  <a:srgbClr val="FFFFFF"/>
                </a:solidFill>
                <a:latin typeface="Aptos"/>
              </a:rPr>
              <a:t> </a:t>
            </a:r>
            <a:r>
              <a:rPr dirty="0" err="1">
                <a:solidFill>
                  <a:srgbClr val="FFFFFF"/>
                </a:solidFill>
                <a:latin typeface="Aptos"/>
              </a:rPr>
              <a:t>абзацев</a:t>
            </a:r>
            <a:endParaRPr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0" y="3794760"/>
            <a:ext cx="182880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Удаляется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206240"/>
            <a:ext cx="5029200" cy="12801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Ubuntu Sans"/>
              </a:defRPr>
            </a:pPr>
            <a:r>
              <a:rPr dirty="0">
                <a:solidFill>
                  <a:srgbClr val="FFFFFF"/>
                </a:solidFill>
                <a:latin typeface="Aptos"/>
              </a:rPr>
              <a:t>•  </a:t>
            </a:r>
            <a:r>
              <a:rPr dirty="0" err="1">
                <a:solidFill>
                  <a:srgbClr val="FFFFFF"/>
                </a:solidFill>
                <a:latin typeface="Aptos"/>
              </a:rPr>
              <a:t>служебные</a:t>
            </a:r>
            <a:r>
              <a:rPr dirty="0">
                <a:solidFill>
                  <a:srgbClr val="FFFFFF"/>
                </a:solidFill>
                <a:latin typeface="Aptos"/>
              </a:rPr>
              <a:t> Unicode-</a:t>
            </a:r>
            <a:r>
              <a:rPr dirty="0" err="1">
                <a:solidFill>
                  <a:srgbClr val="FFFFFF"/>
                </a:solidFill>
                <a:latin typeface="Aptos"/>
              </a:rPr>
              <a:t>символы</a:t>
            </a:r>
            <a:endParaRPr dirty="0">
              <a:solidFill>
                <a:srgbClr val="FFFFFF"/>
              </a:solidFill>
              <a:latin typeface="Aptos"/>
            </a:endParaRP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Ubuntu Sans"/>
              </a:defRPr>
            </a:pPr>
            <a:r>
              <a:rPr dirty="0">
                <a:solidFill>
                  <a:srgbClr val="FFFFFF"/>
                </a:solidFill>
                <a:latin typeface="Aptos"/>
              </a:rPr>
              <a:t>•  </a:t>
            </a:r>
            <a:r>
              <a:rPr dirty="0" err="1">
                <a:solidFill>
                  <a:srgbClr val="FFFFFF"/>
                </a:solidFill>
                <a:latin typeface="Aptos"/>
              </a:rPr>
              <a:t>случайные</a:t>
            </a:r>
            <a:r>
              <a:rPr dirty="0">
                <a:solidFill>
                  <a:srgbClr val="FFFFFF"/>
                </a:solidFill>
                <a:latin typeface="Aptos"/>
              </a:rPr>
              <a:t> </a:t>
            </a:r>
            <a:r>
              <a:rPr dirty="0" err="1">
                <a:solidFill>
                  <a:srgbClr val="FFFFFF"/>
                </a:solidFill>
                <a:latin typeface="Aptos"/>
              </a:rPr>
              <a:t>повторные</a:t>
            </a:r>
            <a:r>
              <a:rPr dirty="0">
                <a:solidFill>
                  <a:srgbClr val="FFFFFF"/>
                </a:solidFill>
                <a:latin typeface="Aptos"/>
              </a:rPr>
              <a:t> </a:t>
            </a:r>
            <a:r>
              <a:rPr dirty="0" err="1">
                <a:solidFill>
                  <a:srgbClr val="FFFFFF"/>
                </a:solidFill>
                <a:latin typeface="Aptos"/>
              </a:rPr>
              <a:t>пробелы</a:t>
            </a:r>
            <a:endParaRPr dirty="0">
              <a:solidFill>
                <a:srgbClr val="FFFFFF"/>
              </a:solidFill>
              <a:latin typeface="Aptos"/>
            </a:endParaRP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Ubuntu Sans"/>
              </a:defRPr>
            </a:pPr>
            <a:r>
              <a:rPr dirty="0">
                <a:solidFill>
                  <a:srgbClr val="FFFFFF"/>
                </a:solidFill>
                <a:latin typeface="Aptos"/>
              </a:rPr>
              <a:t>•  </a:t>
            </a:r>
            <a:r>
              <a:rPr dirty="0" err="1">
                <a:solidFill>
                  <a:srgbClr val="FFFFFF"/>
                </a:solidFill>
                <a:latin typeface="Aptos"/>
              </a:rPr>
              <a:t>разрывы</a:t>
            </a:r>
            <a:r>
              <a:rPr dirty="0">
                <a:solidFill>
                  <a:srgbClr val="FFFFFF"/>
                </a:solidFill>
                <a:latin typeface="Aptos"/>
              </a:rPr>
              <a:t> </a:t>
            </a:r>
            <a:r>
              <a:rPr dirty="0" err="1">
                <a:solidFill>
                  <a:srgbClr val="FFFFFF"/>
                </a:solidFill>
                <a:latin typeface="Aptos"/>
              </a:rPr>
              <a:t>слов</a:t>
            </a:r>
            <a:r>
              <a:rPr dirty="0">
                <a:solidFill>
                  <a:srgbClr val="FFFFFF"/>
                </a:solidFill>
                <a:latin typeface="Aptos"/>
              </a:rPr>
              <a:t> </a:t>
            </a:r>
            <a:r>
              <a:rPr dirty="0" err="1">
                <a:solidFill>
                  <a:srgbClr val="FFFFFF"/>
                </a:solidFill>
                <a:latin typeface="Aptos"/>
              </a:rPr>
              <a:t>переносом</a:t>
            </a:r>
            <a:r>
              <a:rPr dirty="0">
                <a:solidFill>
                  <a:srgbClr val="FFFFFF"/>
                </a:solidFill>
                <a:latin typeface="Aptos"/>
              </a:rPr>
              <a:t> </a:t>
            </a:r>
            <a:r>
              <a:rPr dirty="0" err="1">
                <a:solidFill>
                  <a:srgbClr val="FFFFFF"/>
                </a:solidFill>
                <a:latin typeface="Aptos"/>
              </a:rPr>
              <a:t>строки</a:t>
            </a:r>
            <a:endParaRPr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183879" y="219456"/>
            <a:ext cx="3337560" cy="15240"/>
          </a:xfrm>
          <a:prstGeom prst="rect">
            <a:avLst/>
          </a:prstGeom>
          <a:solidFill>
            <a:srgbClr val="355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744200" y="214884"/>
            <a:ext cx="777240" cy="30480"/>
          </a:xfrm>
          <a:prstGeom prst="rect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338560" y="6144768"/>
            <a:ext cx="91440" cy="91440"/>
          </a:xfrm>
          <a:prstGeom prst="ellipse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137392" y="6144768"/>
            <a:ext cx="54864" cy="54864"/>
          </a:xfrm>
          <a:prstGeom prst="ellipse">
            <a:avLst/>
          </a:prstGeom>
          <a:solidFill>
            <a:srgbClr val="7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19456" y="6163056"/>
            <a:ext cx="54864" cy="54864"/>
          </a:xfrm>
          <a:prstGeom prst="ellipse">
            <a:avLst/>
          </a:prstGeom>
          <a:solidFill>
            <a:srgbClr val="38D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35D7F2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486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Гибридный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69848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Высокий recall на первом этапе, точный ranking на втором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246120" cy="182880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828800"/>
          </a:xfrm>
          <a:prstGeom prst="roundRect">
            <a:avLst/>
          </a:prstGeom>
          <a:solidFill>
            <a:srgbClr val="7890FF"/>
          </a:solidFill>
          <a:ln>
            <a:solidFill>
              <a:srgbClr val="7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08760"/>
            <a:ext cx="278892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Dense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84248"/>
            <a:ext cx="2788920" cy="10058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intfloat/multilingual-e5-large
1024 измерения
Семантическая близость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25880"/>
            <a:ext cx="3246120" cy="182880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1325880"/>
            <a:ext cx="73152" cy="1828800"/>
          </a:xfrm>
          <a:prstGeom prst="roundRect">
            <a:avLst/>
          </a:prstGeom>
          <a:solidFill>
            <a:srgbClr val="F7C65B"/>
          </a:solidFill>
          <a:ln>
            <a:solidFill>
              <a:srgbClr val="F7C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6552" y="1508760"/>
            <a:ext cx="278892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Sparse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1984248"/>
            <a:ext cx="2788920" cy="10058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  <a:latin typeface="Aptos"/>
              </a:rPr>
              <a:t>BM25 /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fastembed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
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Точные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термины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имена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даты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
IDF в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Qdrant</a:t>
            </a: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680960" y="1325880"/>
            <a:ext cx="3246120" cy="182880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1325880"/>
            <a:ext cx="73152" cy="1828800"/>
          </a:xfrm>
          <a:prstGeom prst="roundRect">
            <a:avLst/>
          </a:prstGeom>
          <a:solidFill>
            <a:srgbClr val="35D7F2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36992" y="1508760"/>
            <a:ext cx="278892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1984248"/>
            <a:ext cx="2788920" cy="10058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Reciprocal Rank Fusion
Объединяет dense и sparse
Top-50 кандидатов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840480"/>
            <a:ext cx="9966960" cy="141732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4206240"/>
            <a:ext cx="1828800" cy="41148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Aptos"/>
              </a:rPr>
              <a:t>50 </a:t>
            </a:r>
            <a:r>
              <a:rPr sz="1800" b="1" dirty="0" err="1">
                <a:solidFill>
                  <a:srgbClr val="FFFFFF"/>
                </a:solidFill>
                <a:latin typeface="Aptos"/>
              </a:rPr>
              <a:t>кандидатов</a:t>
            </a:r>
            <a:endParaRPr sz="18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91840" y="4206240"/>
            <a:ext cx="457200" cy="41148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10000"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206240"/>
            <a:ext cx="3017520" cy="41148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Aptos"/>
              </a:rPr>
              <a:t>BAAI/</a:t>
            </a:r>
            <a:r>
              <a:rPr sz="1800" b="1" dirty="0" err="1">
                <a:solidFill>
                  <a:srgbClr val="FFFFFF"/>
                </a:solidFill>
                <a:latin typeface="Aptos"/>
              </a:rPr>
              <a:t>bge</a:t>
            </a:r>
            <a:r>
              <a:rPr sz="1800" b="1" dirty="0">
                <a:solidFill>
                  <a:srgbClr val="FFFFFF"/>
                </a:solidFill>
                <a:latin typeface="Aptos"/>
              </a:rPr>
              <a:t>-</a:t>
            </a:r>
            <a:r>
              <a:rPr sz="1800" b="1" dirty="0" err="1">
                <a:solidFill>
                  <a:srgbClr val="FFFFFF"/>
                </a:solidFill>
                <a:latin typeface="Aptos"/>
              </a:rPr>
              <a:t>reranker</a:t>
            </a:r>
            <a:r>
              <a:rPr sz="1800" b="1" dirty="0">
                <a:solidFill>
                  <a:srgbClr val="FFFFFF"/>
                </a:solidFill>
                <a:latin typeface="Aptos"/>
              </a:rPr>
              <a:t>-base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206240"/>
            <a:ext cx="457200" cy="41148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10000"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4206240"/>
            <a:ext cx="2560320" cy="41148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Aptos"/>
              </a:rPr>
              <a:t>Top-</a:t>
            </a:r>
            <a:r>
              <a:rPr lang="en-US" sz="1800" b="1" dirty="0">
                <a:solidFill>
                  <a:srgbClr val="FFFFFF"/>
                </a:solidFill>
                <a:latin typeface="Aptos"/>
              </a:rPr>
              <a:t>k</a:t>
            </a:r>
            <a:r>
              <a:rPr sz="18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ptos"/>
              </a:rPr>
              <a:t>контекстов</a:t>
            </a:r>
            <a:endParaRPr sz="18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183879" y="219456"/>
            <a:ext cx="3337560" cy="15240"/>
          </a:xfrm>
          <a:prstGeom prst="rect">
            <a:avLst/>
          </a:prstGeom>
          <a:solidFill>
            <a:srgbClr val="355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744200" y="214884"/>
            <a:ext cx="777240" cy="30480"/>
          </a:xfrm>
          <a:prstGeom prst="rect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338560" y="6144768"/>
            <a:ext cx="91440" cy="91440"/>
          </a:xfrm>
          <a:prstGeom prst="ellipse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137392" y="6144768"/>
            <a:ext cx="54864" cy="54864"/>
          </a:xfrm>
          <a:prstGeom prst="ellipse">
            <a:avLst/>
          </a:prstGeom>
          <a:solidFill>
            <a:srgbClr val="7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19456" y="6163056"/>
            <a:ext cx="54864" cy="54864"/>
          </a:xfrm>
          <a:prstGeom prst="ellipse">
            <a:avLst/>
          </a:prstGeom>
          <a:solidFill>
            <a:srgbClr val="38D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35D7F2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486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Генерация ответа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69848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Один промпт для Web UI, CLI и оценки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029200" cy="448056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201168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10000"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RAG-промпт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389120" cy="23774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КОНТЕКСТ:
[релевантные фрагменты]
ВОПРОС:
[запрос пользователя]
ОТВЕТ: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4389120" cy="50292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Если ответа нет в контексте — модель должна сообщить об этом.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325880"/>
            <a:ext cx="5212080" cy="123444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80760" y="1325880"/>
            <a:ext cx="73152" cy="1234440"/>
          </a:xfrm>
          <a:prstGeom prst="roundRect">
            <a:avLst/>
          </a:prstGeom>
          <a:solidFill>
            <a:srgbClr val="38DDB1"/>
          </a:solidFill>
          <a:ln>
            <a:solidFill>
              <a:srgbClr val="38D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508760"/>
            <a:ext cx="475488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Асинхронный streaming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984248"/>
            <a:ext cx="4754880" cy="41148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Ollama AsyncClient освобождает event loop Chainlit между токенами.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2743200"/>
            <a:ext cx="5212080" cy="123444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80760" y="2743200"/>
            <a:ext cx="73152" cy="1234440"/>
          </a:xfrm>
          <a:prstGeom prst="roundRect">
            <a:avLst/>
          </a:prstGeom>
          <a:solidFill>
            <a:srgbClr val="7890FF"/>
          </a:solidFill>
          <a:ln>
            <a:solidFill>
              <a:srgbClr val="7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2926080"/>
            <a:ext cx="475488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Прозрачность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3401568"/>
            <a:ext cx="4754880" cy="41148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Найденные фрагменты доступны в боковой панели интерфейса.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20"/>
            <a:ext cx="5212080" cy="123444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0760" y="4160520"/>
            <a:ext cx="73152" cy="1234440"/>
          </a:xfrm>
          <a:prstGeom prst="roundRect">
            <a:avLst/>
          </a:prstGeom>
          <a:solidFill>
            <a:srgbClr val="35D7F2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4343400"/>
            <a:ext cx="475488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Состояние загрузки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818888"/>
            <a:ext cx="4754880" cy="41148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Интерфейс показывает прогресс и кеширует модели между сессиями.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219456"/>
            <a:ext cx="3337560" cy="15240"/>
          </a:xfrm>
          <a:prstGeom prst="rect">
            <a:avLst/>
          </a:prstGeom>
          <a:solidFill>
            <a:srgbClr val="355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744200" y="214884"/>
            <a:ext cx="777240" cy="30480"/>
          </a:xfrm>
          <a:prstGeom prst="rect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338560" y="6144768"/>
            <a:ext cx="91440" cy="91440"/>
          </a:xfrm>
          <a:prstGeom prst="ellipse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137392" y="6144768"/>
            <a:ext cx="54864" cy="54864"/>
          </a:xfrm>
          <a:prstGeom prst="ellipse">
            <a:avLst/>
          </a:prstGeom>
          <a:solidFill>
            <a:srgbClr val="7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19456" y="6163056"/>
            <a:ext cx="54864" cy="54864"/>
          </a:xfrm>
          <a:prstGeom prst="ellipse">
            <a:avLst/>
          </a:prstGeom>
          <a:solidFill>
            <a:srgbClr val="38D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35D7F2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486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Текущая конфигурация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69848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Профиль с приоритетом качества поиска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12080" cy="114300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146304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Embedding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90472"/>
            <a:ext cx="3246120" cy="5943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Aptos"/>
              </a:rPr>
              <a:t>multilingual-e5-large · 1024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12080" cy="114300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490472"/>
            <a:ext cx="146304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490472"/>
            <a:ext cx="3246120" cy="5943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Aptos"/>
              </a:rPr>
              <a:t>Qwen 2.5 · 14B · ctx 16K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34639"/>
            <a:ext cx="5212080" cy="114300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999232"/>
            <a:ext cx="146304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Chunking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999232"/>
            <a:ext cx="3246120" cy="5943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Aptos"/>
              </a:rPr>
              <a:t>semantic · 1800 · threshold 90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834639"/>
            <a:ext cx="5212080" cy="114300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999232"/>
            <a:ext cx="146304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999232"/>
            <a:ext cx="3246120" cy="5943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Aptos"/>
              </a:rPr>
              <a:t>hybrid · RRF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43400"/>
            <a:ext cx="5212080" cy="114300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507992"/>
            <a:ext cx="146304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Retrieval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507992"/>
            <a:ext cx="3246120" cy="5943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Aptos"/>
              </a:rPr>
              <a:t>top-50 → reranker → top-10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343400"/>
            <a:ext cx="5212080" cy="114300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4507992"/>
            <a:ext cx="146304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507992"/>
            <a:ext cx="3246120" cy="5943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Aptos"/>
              </a:rPr>
              <a:t>temperature 0 · seed 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852160"/>
            <a:ext cx="1371600" cy="27432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Компромисс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806440"/>
            <a:ext cx="914400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высокое качество retrieval  ↔  повышенная нагрузка на RAM / VRAM и reranker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219456"/>
            <a:ext cx="3337560" cy="15240"/>
          </a:xfrm>
          <a:prstGeom prst="rect">
            <a:avLst/>
          </a:prstGeom>
          <a:solidFill>
            <a:srgbClr val="355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744200" y="214884"/>
            <a:ext cx="777240" cy="30480"/>
          </a:xfrm>
          <a:prstGeom prst="rect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338560" y="6144768"/>
            <a:ext cx="91440" cy="91440"/>
          </a:xfrm>
          <a:prstGeom prst="ellipse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137392" y="6144768"/>
            <a:ext cx="54864" cy="54864"/>
          </a:xfrm>
          <a:prstGeom prst="ellipse">
            <a:avLst/>
          </a:prstGeom>
          <a:solidFill>
            <a:srgbClr val="7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19456" y="6163056"/>
            <a:ext cx="54864" cy="54864"/>
          </a:xfrm>
          <a:prstGeom prst="ellipse">
            <a:avLst/>
          </a:prstGeom>
          <a:solidFill>
            <a:srgbClr val="38D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35D7F2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486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Оценка качества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69848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Ragas + детерминированные метрики по идентификаторам чанков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29000" cy="141732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417320"/>
          </a:xfrm>
          <a:prstGeom prst="roundRect">
            <a:avLst/>
          </a:prstGeom>
          <a:solidFill>
            <a:srgbClr val="35D7F2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08760"/>
            <a:ext cx="297180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Context 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84248"/>
            <a:ext cx="2971800" cy="5943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Насколько высоко расположены полезные контексты в выдаче.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29000" cy="141732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73152" cy="1417320"/>
          </a:xfrm>
          <a:prstGeom prst="roundRect">
            <a:avLst/>
          </a:prstGeom>
          <a:solidFill>
            <a:srgbClr val="7890FF"/>
          </a:solidFill>
          <a:ln>
            <a:solidFill>
              <a:srgbClr val="7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508760"/>
            <a:ext cx="297180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Context 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984248"/>
            <a:ext cx="2971800" cy="5943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Какая доля утверждений эталонного ответа подтверждается контекстом.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429000" cy="141732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73152" cy="1417320"/>
          </a:xfrm>
          <a:prstGeom prst="roundRect">
            <a:avLst/>
          </a:prstGeom>
          <a:solidFill>
            <a:srgbClr val="38DDB1"/>
          </a:solidFill>
          <a:ln>
            <a:solidFill>
              <a:srgbClr val="38D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1508760"/>
            <a:ext cx="297180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Faithfulness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984248"/>
            <a:ext cx="2971800" cy="5943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Поддерживается ли сгенерированный ответ найденными фрагментами.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46120"/>
            <a:ext cx="10835640" cy="224028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493008"/>
            <a:ext cx="274320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10000"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ID-метрики retrieval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214884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10000"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Hit@K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2148840" cy="5943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найден ли целевой чанк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160520"/>
            <a:ext cx="214884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10000"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MRR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526280"/>
            <a:ext cx="2148840" cy="5943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позиция целевого чанка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160520"/>
            <a:ext cx="214884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10000"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Precision@K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526280"/>
            <a:ext cx="2148840" cy="5943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доля эталонных ID в выдаче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4160520"/>
            <a:ext cx="214884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10000"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Recall@K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4526280"/>
            <a:ext cx="2148840" cy="5943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доля найденного эталонного окна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219456"/>
            <a:ext cx="3337560" cy="15240"/>
          </a:xfrm>
          <a:prstGeom prst="rect">
            <a:avLst/>
          </a:prstGeom>
          <a:solidFill>
            <a:srgbClr val="355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744200" y="214884"/>
            <a:ext cx="777240" cy="30480"/>
          </a:xfrm>
          <a:prstGeom prst="rect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338560" y="6144768"/>
            <a:ext cx="91440" cy="91440"/>
          </a:xfrm>
          <a:prstGeom prst="ellipse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137392" y="6144768"/>
            <a:ext cx="54864" cy="54864"/>
          </a:xfrm>
          <a:prstGeom prst="ellipse">
            <a:avLst/>
          </a:prstGeom>
          <a:solidFill>
            <a:srgbClr val="7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19456" y="6163056"/>
            <a:ext cx="54864" cy="54864"/>
          </a:xfrm>
          <a:prstGeom prst="ellipse">
            <a:avLst/>
          </a:prstGeom>
          <a:solidFill>
            <a:srgbClr val="38D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35D7F2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486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Эксплуатация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69848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Локальная инфраструктура и наблюдаемость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29000" cy="182880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828800"/>
          </a:xfrm>
          <a:prstGeom prst="roundRect">
            <a:avLst/>
          </a:prstGeom>
          <a:solidFill>
            <a:srgbClr val="7890FF"/>
          </a:solidFill>
          <a:ln>
            <a:solidFill>
              <a:srgbClr val="7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08760"/>
            <a:ext cx="297180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Qdrant / 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84248"/>
            <a:ext cx="2971800" cy="10058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Dense и sparse векторы, payload с именем файла и порядковым индексом чанка.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29000" cy="182880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73152" cy="1828800"/>
          </a:xfrm>
          <a:prstGeom prst="roundRect">
            <a:avLst/>
          </a:prstGeom>
          <a:solidFill>
            <a:srgbClr val="38DDB1"/>
          </a:solidFill>
          <a:ln>
            <a:solidFill>
              <a:srgbClr val="38D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508760"/>
            <a:ext cx="297180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Ollama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984248"/>
            <a:ext cx="2971800" cy="10058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Локальный inference без отправки содержимого документов во внешние API.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429000" cy="1828800"/>
          </a:xfrm>
          <a:prstGeom prst="roundRect">
            <a:avLst/>
          </a:prstGeom>
          <a:solidFill>
            <a:srgbClr val="132A48"/>
          </a:solidFill>
          <a:ln w="12700">
            <a:solidFill>
              <a:srgbClr val="29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73152" cy="1828800"/>
          </a:xfrm>
          <a:prstGeom prst="roundRect">
            <a:avLst/>
          </a:prstGeom>
          <a:solidFill>
            <a:srgbClr val="35D7F2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1508760"/>
            <a:ext cx="297180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MLflow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984248"/>
            <a:ext cx="2971800" cy="10058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Параметры экспериментов, Ragas-метрики, latency и детальные отчёты.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94760"/>
            <a:ext cx="274320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Измеряемые задержки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434840"/>
            <a:ext cx="2240280" cy="822960"/>
          </a:xfrm>
          <a:prstGeom prst="roundRect">
            <a:avLst/>
          </a:prstGeom>
          <a:solidFill>
            <a:srgbClr val="132A48"/>
          </a:solidFill>
          <a:ln>
            <a:solidFill>
              <a:srgbClr val="7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2057400" cy="41148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Retrieval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4434840"/>
            <a:ext cx="2240280" cy="822960"/>
          </a:xfrm>
          <a:prstGeom prst="roundRect">
            <a:avLst/>
          </a:prstGeom>
          <a:solidFill>
            <a:srgbClr val="132A48"/>
          </a:solidFill>
          <a:ln>
            <a:solidFill>
              <a:srgbClr val="F7C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11880" y="4617720"/>
            <a:ext cx="2057400" cy="41148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Rerank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434840"/>
            <a:ext cx="2240280" cy="822960"/>
          </a:xfrm>
          <a:prstGeom prst="roundRect">
            <a:avLst/>
          </a:prstGeom>
          <a:solidFill>
            <a:srgbClr val="132A48"/>
          </a:solidFill>
          <a:ln>
            <a:solidFill>
              <a:srgbClr val="38D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4617720"/>
            <a:ext cx="2057400" cy="41148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LLM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4434840"/>
            <a:ext cx="2240280" cy="822960"/>
          </a:xfrm>
          <a:prstGeom prst="roundRect">
            <a:avLst/>
          </a:prstGeom>
          <a:solidFill>
            <a:srgbClr val="132A48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06840" y="4617720"/>
            <a:ext cx="2057400" cy="41148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Total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219456"/>
            <a:ext cx="3337560" cy="15240"/>
          </a:xfrm>
          <a:prstGeom prst="rect">
            <a:avLst/>
          </a:prstGeom>
          <a:solidFill>
            <a:srgbClr val="355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744200" y="214884"/>
            <a:ext cx="777240" cy="30480"/>
          </a:xfrm>
          <a:prstGeom prst="rect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338560" y="6144768"/>
            <a:ext cx="91440" cy="91440"/>
          </a:xfrm>
          <a:prstGeom prst="ellipse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137392" y="6144768"/>
            <a:ext cx="54864" cy="54864"/>
          </a:xfrm>
          <a:prstGeom prst="ellipse">
            <a:avLst/>
          </a:prstGeom>
          <a:solidFill>
            <a:srgbClr val="7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19456" y="6163056"/>
            <a:ext cx="54864" cy="54864"/>
          </a:xfrm>
          <a:prstGeom prst="ellipse">
            <a:avLst/>
          </a:prstGeom>
          <a:solidFill>
            <a:srgbClr val="38D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cal_RAG_Experimen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DB6CE4-34A3-49D8-8EBB-89D2F9950B8C}"/>
              </a:ext>
            </a:extLst>
          </p:cNvPr>
          <p:cNvSpPr txBox="1"/>
          <p:nvPr/>
        </p:nvSpPr>
        <p:spPr>
          <a:xfrm>
            <a:off x="11292840" y="320040"/>
            <a:ext cx="36576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lang="ru-RU" sz="1200" b="1" dirty="0">
                <a:solidFill>
                  <a:srgbClr val="FFFFFF"/>
                </a:solidFill>
                <a:latin typeface="Aptos"/>
              </a:rPr>
              <a:t>11</a:t>
            </a:r>
            <a:endParaRPr sz="1200" b="1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35D7F2"/>
          </a:solidFill>
          <a:ln>
            <a:solidFill>
              <a:srgbClr val="35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486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lnSpcReduction="10000"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Итоги и развитие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69848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Проект уже покрывает полный цикл локального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36576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 algn="r"/>
            <a:r>
              <a:rPr lang="ru-RU" sz="1200" b="1" dirty="0">
                <a:solidFill>
                  <a:srgbClr val="FFFFFF"/>
                </a:solidFill>
                <a:latin typeface="Aptos"/>
              </a:rPr>
              <a:t>12</a:t>
            </a:r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82880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20000"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Сделано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754880" cy="32918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Ubuntu San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•  потоковая индексация PDF / DOCX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Ubuntu San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•  semantic и recursive chunking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Ubuntu San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•  hybrid retrieval + reranker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Ubuntu San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•  асинхронный Chainlit UI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Ubuntu San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•  Ragas и ID-метрики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280160"/>
            <a:ext cx="2560320" cy="36576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20000"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Следующие шаги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783080"/>
            <a:ext cx="5029200" cy="32918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Ubuntu San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•  валидация synthetic dataset по цитатам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Ubuntu San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•  атомарная индексация документов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Ubuntu San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•  OCR для сканов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Ubuntu San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•  подбор top-k по MLflow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Ubuntu San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•  фильтрация по документам и метаданным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23560"/>
            <a:ext cx="10424160" cy="594360"/>
          </a:xfrm>
          <a:prstGeom prst="roundRect">
            <a:avLst/>
          </a:prstGeom>
          <a:solidFill>
            <a:srgbClr val="1B385D"/>
          </a:solidFill>
          <a:ln w="12700">
            <a:solidFill>
              <a:srgbClr val="35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5733288"/>
            <a:ext cx="9875520" cy="320040"/>
          </a:xfrm>
          <a:prstGeom prst="roundRect">
            <a:avLst/>
          </a:prstGeom>
          <a:noFill/>
          <a:ln>
            <a:solidFill/>
          </a:ln>
        </p:spPr>
        <p:txBody>
          <a:bodyPr wrap="square" lIns="73152" tIns="36576" rIns="73152" bIns="36576" anchor="ctr">
            <a:normAutofit fontScale="92500" lnSpcReduction="20000"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LOCAL DATA  →  RELEVANT CONTEXT  →  GROUNDED 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219456"/>
            <a:ext cx="3337560" cy="15240"/>
          </a:xfrm>
          <a:prstGeom prst="rect">
            <a:avLst/>
          </a:prstGeom>
          <a:solidFill>
            <a:srgbClr val="355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744200" y="214884"/>
            <a:ext cx="777240" cy="30480"/>
          </a:xfrm>
          <a:prstGeom prst="rect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338560" y="6144768"/>
            <a:ext cx="91440" cy="91440"/>
          </a:xfrm>
          <a:prstGeom prst="ellipse">
            <a:avLst/>
          </a:prstGeom>
          <a:solidFill>
            <a:srgbClr val="35D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137392" y="6144768"/>
            <a:ext cx="54864" cy="54864"/>
          </a:xfrm>
          <a:prstGeom prst="ellipse">
            <a:avLst/>
          </a:prstGeom>
          <a:solidFill>
            <a:srgbClr val="7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19456" y="6163056"/>
            <a:ext cx="54864" cy="54864"/>
          </a:xfrm>
          <a:prstGeom prst="ellipse">
            <a:avLst/>
          </a:prstGeom>
          <a:solidFill>
            <a:srgbClr val="38D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781</Words>
  <Application>Microsoft Office PowerPoint</Application>
  <PresentationFormat>Широкоэкранный</PresentationFormat>
  <Paragraphs>176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RAG System</dc:title>
  <dc:subject>Архитектура и возможности локальной RAG-системы</dc:subject>
  <dc:creator>Local RAG Project</dc:creator>
  <cp:keywords>RAG, Qdrant, Ollama, Chainlit, MLflow, Ragas</cp:keywords>
  <dc:description>generated using python-pptx</dc:description>
  <cp:lastModifiedBy>User</cp:lastModifiedBy>
  <cp:revision>6</cp:revision>
  <dcterms:created xsi:type="dcterms:W3CDTF">2013-01-27T09:14:16Z</dcterms:created>
  <dcterms:modified xsi:type="dcterms:W3CDTF">2026-10-07T14:35:12Z</dcterms:modified>
  <cp:category/>
</cp:coreProperties>
</file>